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7262B"/>
                </a:solidFill>
                <a:latin typeface="Calibri"/>
              </a:defRPr>
            </a:pPr>
            <a:r>
              <a:rPr sz="1100" b="0" i="0" u="none" strike="noStrike">
                <a:solidFill>
                  <a:srgbClr val="17262B"/>
                </a:solidFill>
                <a:latin typeface="Calibri"/>
              </a:rPr>
              <a:t>Queue by priority</a:t>
            </a:r>
          </a:p>
        </c:rich>
      </c:tx>
      <c:layout/>
      <c:overlay val="0"/>
    </c:title>
    <c:autoTitleDeleted val="0"/>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A8322D"/>
              </a:solidFill>
              <a:effectLst/>
            </c:spPr>
          </c:dPt>
          <c:dPt>
            <c:idx val="1"/>
            <c:bubble3D val="0"/>
            <c:spPr>
              <a:solidFill>
                <a:srgbClr val="B7791F"/>
              </a:solidFill>
              <a:effectLst/>
            </c:spPr>
          </c:dPt>
          <c:dPt>
            <c:idx val="2"/>
            <c:bubble3D val="0"/>
            <c:spPr>
              <a:solidFill>
                <a:srgbClr val="3F7D4E"/>
              </a:solidFill>
              <a:effectLst/>
            </c:spPr>
          </c:dPt>
          <c:dPt>
            <c:idx val="3"/>
            <c:bubble3D val="0"/>
            <c:spPr>
              <a:solidFill>
                <a:srgbClr val="5B5FA8"/>
              </a:solidFill>
              <a:effectLst/>
            </c:spPr>
          </c:dPt>
          <c:dLbls>
            <c:dLbl>
              <c:idx val="0"/>
              <c:numFmt formatCode="General"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High priority</c:v>
                </c:pt>
                <c:pt idx="1">
                  <c:v>Needs attention</c:v>
                </c:pt>
                <c:pt idx="2">
                  <c:v>Lower priority</c:v>
                </c:pt>
                <c:pt idx="3">
                  <c:v>Data review</c:v>
                </c:pt>
              </c:strCache>
            </c:strRef>
          </c:cat>
          <c:val>
            <c:numRef>
              <c:f>Sheet1!$B$2:$B$5</c:f>
              <c:numCache>
                <c:ptCount val="4"/>
                <c:pt idx="0">
                  <c:v>10</c:v>
                </c:pt>
                <c:pt idx="1">
                  <c:v>7</c:v>
                </c:pt>
                <c:pt idx="2">
                  <c:v>32</c:v>
                </c:pt>
                <c:pt idx="3">
                  <c:v>1</c:v>
                </c:pt>
              </c:numCache>
            </c:numRef>
          </c:val>
        </c:ser>
        <c:firstSliceAng val="0"/>
        <c:holeSize val="55"/>
      </c:doughnutChart>
      <c:spPr>
        <a:noFill/>
        <a:ln>
          <a:noFill/>
        </a:ln>
        <a:effectLst/>
      </c:spPr>
    </c:plotArea>
    <c:legend>
      <c:legendPos val="r"/>
      <c:overlay val="0"/>
      <c:txPr>
        <a:bodyPr/>
        <a:lstStyle/>
        <a:p>
          <a:pPr>
            <a:defRPr sz="900">
              <a:solidFill>
                <a:srgbClr val="17262B"/>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7262B"/>
                </a:solidFill>
                <a:latin typeface="Calibri"/>
              </a:defRPr>
            </a:pPr>
            <a:r>
              <a:rPr sz="1050" b="0" i="0" u="none" strike="noStrike">
                <a:solidFill>
                  <a:srgbClr val="17262B"/>
                </a:solidFill>
                <a:latin typeface="Calibri"/>
              </a:rPr>
              <a:t>Points for a 10-point signal vs robust z</a:t>
            </a:r>
          </a:p>
        </c:rich>
      </c:tx>
      <c:layout/>
      <c:overlay val="0"/>
    </c:title>
    <c:autoTitleDeleted val="0"/>
    <c:plotArea>
      <c:layout/>
      <c:scatterChart>
        <c:scatterStyle val="lineMarker"/>
        <c:varyColors val="0"/>
        <c:ser>
          <c:idx val="0"/>
          <c:order val="0"/>
          <c:tx>
            <c:strRef>
              <c:f>Sheet1!$B$1</c:f>
              <c:strCache>
                <c:ptCount val="1"/>
                <c:pt idx="0">
                  <c:v>Points (10-point signal)</c:v>
                </c:pt>
              </c:strCache>
            </c:strRef>
          </c:tx>
          <c:spPr>
            <a:solidFill>
              <a:srgbClr val="E07A5F"/>
            </a:solidFill>
            <a:ln w="38100" cap="flat">
              <a:solidFill>
                <a:srgbClr val="E07A5F"/>
              </a:solidFill>
              <a:prstDash val="solid"/>
              <a:round/>
            </a:ln>
            <a:effectLst/>
          </c:spPr>
          <c:marker>
            <c:symbol val="none"/>
            <c:size val="6"/>
            <c:spPr>
              <a:solidFill>
                <a:srgbClr val="E07A5F"/>
              </a:solidFill>
              <a:ln w="9525" cap="flat">
                <a:solidFill>
                  <a:srgbClr val="E07A5F"/>
                </a:solidFill>
                <a:prstDash val="solid"/>
                <a:round/>
              </a:ln>
              <a:effectLst/>
            </c:spPr>
          </c:marker>
          <c:xVal>
            <c:numRef>
              <c:f>Sheet1!$A$2:$A$18</c:f>
              <c:numCache>
                <c:formatCode>General</c:formatCode>
                <c:ptCount val="1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numCache>
            </c:numRef>
          </c:xVal>
          <c:yVal>
            <c:numRef>
              <c:f>Sheet1!$B$2:$B$18</c:f>
              <c:numCache>
                <c:formatCode>General</c:formatCode>
                <c:ptCount val="17"/>
                <c:pt idx="0">
                  <c:v>0</c:v>
                </c:pt>
                <c:pt idx="1">
                  <c:v>0</c:v>
                </c:pt>
                <c:pt idx="2">
                  <c:v>0</c:v>
                </c:pt>
                <c:pt idx="3">
                  <c:v>0</c:v>
                </c:pt>
                <c:pt idx="4">
                  <c:v>1.11</c:v>
                </c:pt>
                <c:pt idx="5">
                  <c:v>2.22</c:v>
                </c:pt>
                <c:pt idx="6">
                  <c:v>3.33</c:v>
                </c:pt>
                <c:pt idx="7">
                  <c:v>4.44</c:v>
                </c:pt>
                <c:pt idx="8">
                  <c:v>5.56</c:v>
                </c:pt>
                <c:pt idx="9">
                  <c:v>6.67</c:v>
                </c:pt>
                <c:pt idx="10">
                  <c:v>7.78</c:v>
                </c:pt>
                <c:pt idx="11">
                  <c:v>8.89</c:v>
                </c:pt>
                <c:pt idx="12">
                  <c:v>10</c:v>
                </c:pt>
                <c:pt idx="13">
                  <c:v>10</c:v>
                </c:pt>
                <c:pt idx="14">
                  <c:v>10</c:v>
                </c:pt>
                <c:pt idx="15">
                  <c:v>10</c:v>
                </c:pt>
                <c:pt idx="16">
                  <c:v>10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0"/>
        </c:scaling>
        <c:delete val="0"/>
        <c:axPos val="b"/>
        <c:title>
          <c:tx>
            <c:rich>
              <a:bodyPr/>
              <a:lstStyle/>
              <a:p>
                <a:pPr>
                  <a:defRPr sz="900" b="0" i="0" u="none" strike="noStrike">
                    <a:solidFill>
                      <a:srgbClr val="5E7075"/>
                    </a:solidFill>
                    <a:latin typeface="Arial"/>
                  </a:defRPr>
                </a:pPr>
                <a:r>
                  <a:rPr sz="900" b="0" i="0" u="none" strike="noStrike">
                    <a:solidFill>
                      <a:srgbClr val="5E7075"/>
                    </a:solidFill>
                    <a:latin typeface="Arial"/>
                  </a:rPr>
                  <a:t>robust z (spreads above the queue median)</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5E7075"/>
                </a:solidFill>
                <a:latin typeface="Arial"/>
              </a:defRPr>
            </a:pPr>
            <a:endParaRPr lang="en-US"/>
          </a:p>
        </c:txPr>
        <c:crossAx val="2094734552"/>
        <c:crosses val="autoZero"/>
        <c:auto val="1"/>
        <c:lblAlgn val="ctr"/>
        <c:noMultiLvlLbl val="1"/>
      </c:valAx>
      <c:valAx>
        <c:axId val="2094734552"/>
        <c:scaling>
          <c:orientation val="minMax"/>
          <c:max val="10"/>
          <c:min val="0"/>
        </c:scaling>
        <c:delete val="0"/>
        <c:axPos val="l"/>
        <c:majorGridlines>
          <c:spPr>
            <a:ln w="6350" cap="flat">
              <a:solidFill>
                <a:srgbClr val="E6ECEA"/>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E7075"/>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262B"/>
                </a:solidFill>
                <a:latin typeface="Calibri"/>
              </a:defRPr>
            </a:pPr>
            <a:r>
              <a:rPr sz="1200" b="0" i="0" u="none" strike="noStrike">
                <a:solidFill>
                  <a:srgbClr val="17262B"/>
                </a:solidFill>
                <a:latin typeface="Calibri"/>
              </a:rPr>
              <a:t>Worked example: C1023 scores 62.9 of 100</a:t>
            </a:r>
          </a:p>
        </c:rich>
      </c:tx>
      <c:layout/>
      <c:overlay val="0"/>
    </c:title>
    <c:autoTitleDeleted val="0"/>
    <c:plotArea>
      <c:layout/>
      <c:barChart>
        <c:barDir val="bar"/>
        <c:grouping val="clustered"/>
        <c:varyColors val="0"/>
        <c:ser>
          <c:idx val="0"/>
          <c:order val="0"/>
          <c:tx>
            <c:strRef>
              <c:f>Sheet1!$B$1</c:f>
              <c:strCache>
                <c:ptCount val="1"/>
                <c:pt idx="0">
                  <c:v>Group cap</c:v>
                </c:pt>
              </c:strCache>
            </c:strRef>
          </c:tx>
          <c:spPr>
            <a:solidFill>
              <a:srgbClr val="D5DEDC"/>
            </a:solidFill>
            <a:effectLst/>
          </c:spPr>
          <c:invertIfNegative val="0"/>
          <c:dLbls>
            <c:numFmt formatCode="General" sourceLinked="0"/>
            <c:txPr>
              <a:bodyPr/>
              <a:lstStyle/>
              <a:p>
                <a:pPr>
                  <a:defRPr b="0" i="0" strike="noStrike" sz="900" u="none">
                    <a:solidFill>
                      <a:srgbClr val="17262B"/>
                    </a:solidFill>
                    <a:latin typeface="Arial"/>
                  </a:defRPr>
                </a:pPr>
              </a:p>
            </c:txPr>
            <c:showLegendKey val="0"/>
            <c:showVal val="1"/>
            <c:showCatName val="0"/>
            <c:showSerName val="0"/>
            <c:showPercent val="0"/>
            <c:showBubbleSize val="0"/>
            <c:showLeaderLines val="0"/>
          </c:dLbls>
          <c:cat>
            <c:multiLvlStrRef>
              <c:f>Sheet1!$A$2:$A$6</c:f>
              <c:multiLvlStrCache>
                <c:ptCount val="5"/>
                <c:lvl>
                  <c:pt idx="0">
                    <c:v>Billing integrity</c:v>
                  </c:pt>
                  <c:pt idx="1">
                    <c:v>Relationship</c:v>
                  </c:pt>
                  <c:pt idx="2">
                    <c:v>Utilization</c:v>
                  </c:pt>
                  <c:pt idx="3">
                    <c:v>Billing pattern</c:v>
                  </c:pt>
                  <c:pt idx="4">
                    <c:v>Combinations</c:v>
                  </c:pt>
                </c:lvl>
              </c:multiLvlStrCache>
            </c:multiLvlStrRef>
          </c:cat>
          <c:val>
            <c:numRef>
              <c:f>Sheet1!$B$2:$B$6</c:f>
              <c:numCache>
                <c:formatCode>General</c:formatCode>
                <c:ptCount val="5"/>
                <c:pt idx="0">
                  <c:v>30</c:v>
                </c:pt>
                <c:pt idx="1">
                  <c:v>16</c:v>
                </c:pt>
                <c:pt idx="2">
                  <c:v>20</c:v>
                </c:pt>
                <c:pt idx="3">
                  <c:v>20</c:v>
                </c:pt>
                <c:pt idx="4">
                  <c:v>14</c:v>
                </c:pt>
              </c:numCache>
            </c:numRef>
          </c:val>
        </c:ser>
        <c:ser>
          <c:idx val="1"/>
          <c:order val="1"/>
          <c:tx>
            <c:strRef>
              <c:f>Sheet1!$C$1</c:f>
              <c:strCache>
                <c:ptCount val="1"/>
                <c:pt idx="0">
                  <c:v>C1023</c:v>
                </c:pt>
              </c:strCache>
            </c:strRef>
          </c:tx>
          <c:spPr>
            <a:solidFill>
              <a:srgbClr val="2F5D62"/>
            </a:solidFill>
            <a:effectLst/>
          </c:spPr>
          <c:invertIfNegative val="0"/>
          <c:dLbls>
            <c:numFmt formatCode="General" sourceLinked="0"/>
            <c:txPr>
              <a:bodyPr/>
              <a:lstStyle/>
              <a:p>
                <a:pPr>
                  <a:defRPr b="0" i="0" strike="noStrike" sz="900" u="none">
                    <a:solidFill>
                      <a:srgbClr val="17262B"/>
                    </a:solidFill>
                    <a:latin typeface="Arial"/>
                  </a:defRPr>
                </a:pPr>
              </a:p>
            </c:txPr>
            <c:showLegendKey val="0"/>
            <c:showVal val="1"/>
            <c:showCatName val="0"/>
            <c:showSerName val="0"/>
            <c:showPercent val="0"/>
            <c:showBubbleSize val="0"/>
            <c:showLeaderLines val="0"/>
          </c:dLbls>
          <c:cat>
            <c:multiLvlStrRef>
              <c:f>Sheet1!$A$2:$A$6</c:f>
              <c:multiLvlStrCache>
                <c:ptCount val="5"/>
                <c:lvl>
                  <c:pt idx="0">
                    <c:v>Billing integrity</c:v>
                  </c:pt>
                  <c:pt idx="1">
                    <c:v>Relationship</c:v>
                  </c:pt>
                  <c:pt idx="2">
                    <c:v>Utilization</c:v>
                  </c:pt>
                  <c:pt idx="3">
                    <c:v>Billing pattern</c:v>
                  </c:pt>
                  <c:pt idx="4">
                    <c:v>Combinations</c:v>
                  </c:pt>
                </c:lvl>
              </c:multiLvlStrCache>
            </c:multiLvlStrRef>
          </c:cat>
          <c:val>
            <c:numRef>
              <c:f>Sheet1!$C$2:$C$6</c:f>
              <c:numCache>
                <c:formatCode>General</c:formatCode>
                <c:ptCount val="5"/>
                <c:pt idx="0">
                  <c:v>18</c:v>
                </c:pt>
                <c:pt idx="1">
                  <c:v>16</c:v>
                </c:pt>
                <c:pt idx="2">
                  <c:v>10.1</c:v>
                </c:pt>
                <c:pt idx="3">
                  <c:v>7.8</c:v>
                </c:pt>
                <c:pt idx="4">
                  <c:v>11</c:v>
                </c:pt>
              </c:numCache>
            </c:numRef>
          </c:val>
        </c:ser>
        <c:dLbls>
          <c:numFmt formatCode="General" sourceLinked="0"/>
          <c:txPr>
            <a:bodyPr/>
            <a:lstStyle/>
            <a:p>
              <a:pPr>
                <a:defRPr b="0" i="0" strike="noStrike" sz="900" u="none">
                  <a:solidFill>
                    <a:srgbClr val="17262B"/>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7262B"/>
                </a:solidFill>
                <a:latin typeface="Arial"/>
              </a:defRPr>
            </a:pPr>
            <a:endParaRPr lang="en-US"/>
          </a:p>
        </c:txPr>
        <c:crossAx val="2094734552"/>
        <c:crosses val="autoZero"/>
        <c:auto val="1"/>
        <c:lblAlgn val="ctr"/>
        <c:noMultiLvlLbl val="1"/>
      </c:catAx>
      <c:valAx>
        <c:axId val="2094734552"/>
        <c:scaling>
          <c:orientation val="minMax"/>
          <c:max val="3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E7075"/>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262B"/>
                </a:solidFill>
                <a:latin typeface="Calibri"/>
              </a:defRPr>
            </a:pPr>
            <a:r>
              <a:rPr sz="1200" b="0" i="0" u="none" strike="noStrike">
                <a:solidFill>
                  <a:srgbClr val="17262B"/>
                </a:solidFill>
                <a:latin typeface="Calibri"/>
              </a:rPr>
              <a:t>Rules score vs Isolation Forest percentile (50 cases)</a:t>
            </a:r>
          </a:p>
        </c:rich>
      </c:tx>
      <c:layout/>
      <c:overlay val="0"/>
    </c:title>
    <c:autoTitleDeleted val="0"/>
    <c:plotArea>
      <c:layout/>
      <c:scatterChart>
        <c:scatterStyle val="lineMarker"/>
        <c:varyColors val="0"/>
        <c:ser>
          <c:idx val="0"/>
          <c:order val="0"/>
          <c:tx>
            <c:strRef>
              <c:f>Sheet1!$B$1</c:f>
              <c:strCache>
                <c:ptCount val="1"/>
                <c:pt idx="0">
                  <c:v>High priority</c:v>
                </c:pt>
              </c:strCache>
            </c:strRef>
          </c:tx>
          <c:spPr>
            <a:solidFill>
              <a:srgbClr val="A8322D"/>
            </a:solidFill>
            <a:ln>
              <a:noFill/>
            </a:ln>
            <a:effectLst/>
          </c:spPr>
          <c:marker>
            <c:symbol val="circle"/>
            <c:size val="8"/>
            <c:spPr>
              <a:solidFill>
                <a:srgbClr val="A8322D"/>
              </a:solidFill>
              <a:ln w="9525" cap="flat">
                <a:solidFill>
                  <a:srgbClr val="A8322D"/>
                </a:solidFill>
                <a:prstDash val="solid"/>
                <a:round/>
              </a:ln>
              <a:effectLst/>
            </c:spPr>
          </c:marker>
          <c:xVal>
            <c:numRef>
              <c:f>Sheet1!$A$2:$A$51</c:f>
              <c:numCache>
                <c:formatCode>General</c:formatCode>
                <c:ptCount val="50"/>
                <c:pt idx="0">
                  <c:v>100</c:v>
                </c:pt>
                <c:pt idx="1">
                  <c:v>100</c:v>
                </c:pt>
                <c:pt idx="2">
                  <c:v>100</c:v>
                </c:pt>
                <c:pt idx="3">
                  <c:v>100</c:v>
                </c:pt>
                <c:pt idx="4">
                  <c:v>100</c:v>
                </c:pt>
                <c:pt idx="5">
                  <c:v>99.6</c:v>
                </c:pt>
                <c:pt idx="6">
                  <c:v>99.6</c:v>
                </c:pt>
                <c:pt idx="7">
                  <c:v>98.5</c:v>
                </c:pt>
                <c:pt idx="8">
                  <c:v>56</c:v>
                </c:pt>
                <c:pt idx="9">
                  <c:v>62.9</c:v>
                </c:pt>
                <c:pt idx="10">
                  <c:v>18.9</c:v>
                </c:pt>
                <c:pt idx="11">
                  <c:v>53.6</c:v>
                </c:pt>
                <c:pt idx="12">
                  <c:v>45.8</c:v>
                </c:pt>
                <c:pt idx="13">
                  <c:v>33.5</c:v>
                </c:pt>
                <c:pt idx="14">
                  <c:v>32.6</c:v>
                </c:pt>
                <c:pt idx="15">
                  <c:v>27.6</c:v>
                </c:pt>
                <c:pt idx="16">
                  <c:v>23</c:v>
                </c:pt>
                <c:pt idx="17">
                  <c:v>0</c:v>
                </c:pt>
                <c:pt idx="18">
                  <c:v>16.6</c:v>
                </c:pt>
                <c:pt idx="19">
                  <c:v>12</c:v>
                </c:pt>
                <c:pt idx="20">
                  <c:v>5.2</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xVal>
          <c:yVal>
            <c:numRef>
              <c:f>Sheet1!$B$2:$B$51</c:f>
              <c:numCache>
                <c:formatCode>General</c:formatCode>
                <c:ptCount val="50"/>
                <c:pt idx="0">
                  <c:v>84</c:v>
                </c:pt>
                <c:pt idx="1">
                  <c:v>94</c:v>
                </c:pt>
                <c:pt idx="2">
                  <c:v>88</c:v>
                </c:pt>
                <c:pt idx="3">
                  <c:v>80</c:v>
                </c:pt>
                <c:pt idx="4">
                  <c:v>90</c:v>
                </c:pt>
                <c:pt idx="5">
                  <c:v>86</c:v>
                </c:pt>
                <c:pt idx="6">
                  <c:v>76</c:v>
                </c:pt>
                <c:pt idx="7">
                  <c:v>100</c:v>
                </c:pt>
                <c:pt idx="8">
                  <c:v>96</c:v>
                </c:pt>
                <c:pt idx="9">
                  <c:v>98</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numCache>
            </c:numRef>
          </c:yVal>
          <c:smooth val="0"/>
        </c:ser>
        <c:ser>
          <c:idx val="1"/>
          <c:order val="1"/>
          <c:tx>
            <c:strRef>
              <c:f>Sheet1!$C$1</c:f>
              <c:strCache>
                <c:ptCount val="1"/>
                <c:pt idx="0">
                  <c:v>Needs attention</c:v>
                </c:pt>
              </c:strCache>
            </c:strRef>
          </c:tx>
          <c:spPr>
            <a:solidFill>
              <a:srgbClr val="B7791F"/>
            </a:solidFill>
            <a:ln>
              <a:noFill/>
            </a:ln>
            <a:effectLst/>
          </c:spPr>
          <c:marker>
            <c:symbol val="circle"/>
            <c:size val="8"/>
            <c:spPr>
              <a:solidFill>
                <a:srgbClr val="B7791F"/>
              </a:solidFill>
              <a:ln w="9525" cap="flat">
                <a:solidFill>
                  <a:srgbClr val="B7791F"/>
                </a:solidFill>
                <a:prstDash val="solid"/>
                <a:round/>
              </a:ln>
              <a:effectLst/>
            </c:spPr>
          </c:marker>
          <c:xVal>
            <c:numRef>
              <c:f>Sheet1!$A$2:$A$51</c:f>
              <c:numCache>
                <c:formatCode>General</c:formatCode>
                <c:ptCount val="50"/>
                <c:pt idx="0">
                  <c:v>100</c:v>
                </c:pt>
                <c:pt idx="1">
                  <c:v>100</c:v>
                </c:pt>
                <c:pt idx="2">
                  <c:v>100</c:v>
                </c:pt>
                <c:pt idx="3">
                  <c:v>100</c:v>
                </c:pt>
                <c:pt idx="4">
                  <c:v>100</c:v>
                </c:pt>
                <c:pt idx="5">
                  <c:v>99.6</c:v>
                </c:pt>
                <c:pt idx="6">
                  <c:v>99.6</c:v>
                </c:pt>
                <c:pt idx="7">
                  <c:v>98.5</c:v>
                </c:pt>
                <c:pt idx="8">
                  <c:v>56</c:v>
                </c:pt>
                <c:pt idx="9">
                  <c:v>62.9</c:v>
                </c:pt>
                <c:pt idx="10">
                  <c:v>18.9</c:v>
                </c:pt>
                <c:pt idx="11">
                  <c:v>53.6</c:v>
                </c:pt>
                <c:pt idx="12">
                  <c:v>45.8</c:v>
                </c:pt>
                <c:pt idx="13">
                  <c:v>33.5</c:v>
                </c:pt>
                <c:pt idx="14">
                  <c:v>32.6</c:v>
                </c:pt>
                <c:pt idx="15">
                  <c:v>27.6</c:v>
                </c:pt>
                <c:pt idx="16">
                  <c:v>23</c:v>
                </c:pt>
                <c:pt idx="17">
                  <c:v>0</c:v>
                </c:pt>
                <c:pt idx="18">
                  <c:v>16.6</c:v>
                </c:pt>
                <c:pt idx="19">
                  <c:v>12</c:v>
                </c:pt>
                <c:pt idx="20">
                  <c:v>5.2</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xVal>
          <c:yVal>
            <c:numRef>
              <c:f>Sheet1!$C$2:$C$51</c:f>
              <c:numCache>
                <c:formatCode>General</c:formatCode>
                <c:ptCount val="50"/>
                <c:pt idx="0">
                  <c:v/>
                </c:pt>
                <c:pt idx="1">
                  <c:v/>
                </c:pt>
                <c:pt idx="2">
                  <c:v/>
                </c:pt>
                <c:pt idx="3">
                  <c:v/>
                </c:pt>
                <c:pt idx="4">
                  <c:v/>
                </c:pt>
                <c:pt idx="5">
                  <c:v/>
                </c:pt>
                <c:pt idx="6">
                  <c:v/>
                </c:pt>
                <c:pt idx="7">
                  <c:v/>
                </c:pt>
                <c:pt idx="8">
                  <c:v/>
                </c:pt>
                <c:pt idx="9">
                  <c:v/>
                </c:pt>
                <c:pt idx="10">
                  <c:v>72</c:v>
                </c:pt>
                <c:pt idx="11">
                  <c:v>74</c:v>
                </c:pt>
                <c:pt idx="12">
                  <c:v>82</c:v>
                </c:pt>
                <c:pt idx="13">
                  <c:v>70</c:v>
                </c:pt>
                <c:pt idx="14">
                  <c:v>68</c:v>
                </c:pt>
                <c:pt idx="15">
                  <c:v>92</c:v>
                </c:pt>
                <c:pt idx="16">
                  <c:v>78</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numCache>
            </c:numRef>
          </c:yVal>
          <c:smooth val="0"/>
        </c:ser>
        <c:ser>
          <c:idx val="2"/>
          <c:order val="2"/>
          <c:tx>
            <c:strRef>
              <c:f>Sheet1!$D$1</c:f>
              <c:strCache>
                <c:ptCount val="1"/>
                <c:pt idx="0">
                  <c:v>Data review</c:v>
                </c:pt>
              </c:strCache>
            </c:strRef>
          </c:tx>
          <c:spPr>
            <a:solidFill>
              <a:srgbClr val="5B5FA8"/>
            </a:solidFill>
            <a:ln>
              <a:noFill/>
            </a:ln>
            <a:effectLst/>
          </c:spPr>
          <c:marker>
            <c:symbol val="circle"/>
            <c:size val="8"/>
            <c:spPr>
              <a:solidFill>
                <a:srgbClr val="5B5FA8"/>
              </a:solidFill>
              <a:ln w="9525" cap="flat">
                <a:solidFill>
                  <a:srgbClr val="5B5FA8"/>
                </a:solidFill>
                <a:prstDash val="solid"/>
                <a:round/>
              </a:ln>
              <a:effectLst/>
            </c:spPr>
          </c:marker>
          <c:xVal>
            <c:numRef>
              <c:f>Sheet1!$A$2:$A$51</c:f>
              <c:numCache>
                <c:formatCode>General</c:formatCode>
                <c:ptCount val="50"/>
                <c:pt idx="0">
                  <c:v>100</c:v>
                </c:pt>
                <c:pt idx="1">
                  <c:v>100</c:v>
                </c:pt>
                <c:pt idx="2">
                  <c:v>100</c:v>
                </c:pt>
                <c:pt idx="3">
                  <c:v>100</c:v>
                </c:pt>
                <c:pt idx="4">
                  <c:v>100</c:v>
                </c:pt>
                <c:pt idx="5">
                  <c:v>99.6</c:v>
                </c:pt>
                <c:pt idx="6">
                  <c:v>99.6</c:v>
                </c:pt>
                <c:pt idx="7">
                  <c:v>98.5</c:v>
                </c:pt>
                <c:pt idx="8">
                  <c:v>56</c:v>
                </c:pt>
                <c:pt idx="9">
                  <c:v>62.9</c:v>
                </c:pt>
                <c:pt idx="10">
                  <c:v>18.9</c:v>
                </c:pt>
                <c:pt idx="11">
                  <c:v>53.6</c:v>
                </c:pt>
                <c:pt idx="12">
                  <c:v>45.8</c:v>
                </c:pt>
                <c:pt idx="13">
                  <c:v>33.5</c:v>
                </c:pt>
                <c:pt idx="14">
                  <c:v>32.6</c:v>
                </c:pt>
                <c:pt idx="15">
                  <c:v>27.6</c:v>
                </c:pt>
                <c:pt idx="16">
                  <c:v>23</c:v>
                </c:pt>
                <c:pt idx="17">
                  <c:v>0</c:v>
                </c:pt>
                <c:pt idx="18">
                  <c:v>16.6</c:v>
                </c:pt>
                <c:pt idx="19">
                  <c:v>12</c:v>
                </c:pt>
                <c:pt idx="20">
                  <c:v>5.2</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xVal>
          <c:yVal>
            <c:numRef>
              <c:f>Sheet1!$D$2:$D$51</c:f>
              <c:numCache>
                <c:formatCode>General</c:formatCode>
                <c:ptCount val="5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52</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numCache>
            </c:numRef>
          </c:yVal>
          <c:smooth val="0"/>
        </c:ser>
        <c:ser>
          <c:idx val="3"/>
          <c:order val="3"/>
          <c:tx>
            <c:strRef>
              <c:f>Sheet1!$E$1</c:f>
              <c:strCache>
                <c:ptCount val="1"/>
                <c:pt idx="0">
                  <c:v>Lower priority</c:v>
                </c:pt>
              </c:strCache>
            </c:strRef>
          </c:tx>
          <c:spPr>
            <a:solidFill>
              <a:srgbClr val="3F7D4E"/>
            </a:solidFill>
            <a:ln>
              <a:noFill/>
            </a:ln>
            <a:effectLst/>
          </c:spPr>
          <c:marker>
            <c:symbol val="circle"/>
            <c:size val="8"/>
            <c:spPr>
              <a:solidFill>
                <a:srgbClr val="3F7D4E"/>
              </a:solidFill>
              <a:ln w="9525" cap="flat">
                <a:solidFill>
                  <a:srgbClr val="3F7D4E"/>
                </a:solidFill>
                <a:prstDash val="solid"/>
                <a:round/>
              </a:ln>
              <a:effectLst/>
            </c:spPr>
          </c:marker>
          <c:xVal>
            <c:numRef>
              <c:f>Sheet1!$A$2:$A$51</c:f>
              <c:numCache>
                <c:formatCode>General</c:formatCode>
                <c:ptCount val="50"/>
                <c:pt idx="0">
                  <c:v>100</c:v>
                </c:pt>
                <c:pt idx="1">
                  <c:v>100</c:v>
                </c:pt>
                <c:pt idx="2">
                  <c:v>100</c:v>
                </c:pt>
                <c:pt idx="3">
                  <c:v>100</c:v>
                </c:pt>
                <c:pt idx="4">
                  <c:v>100</c:v>
                </c:pt>
                <c:pt idx="5">
                  <c:v>99.6</c:v>
                </c:pt>
                <c:pt idx="6">
                  <c:v>99.6</c:v>
                </c:pt>
                <c:pt idx="7">
                  <c:v>98.5</c:v>
                </c:pt>
                <c:pt idx="8">
                  <c:v>56</c:v>
                </c:pt>
                <c:pt idx="9">
                  <c:v>62.9</c:v>
                </c:pt>
                <c:pt idx="10">
                  <c:v>18.9</c:v>
                </c:pt>
                <c:pt idx="11">
                  <c:v>53.6</c:v>
                </c:pt>
                <c:pt idx="12">
                  <c:v>45.8</c:v>
                </c:pt>
                <c:pt idx="13">
                  <c:v>33.5</c:v>
                </c:pt>
                <c:pt idx="14">
                  <c:v>32.6</c:v>
                </c:pt>
                <c:pt idx="15">
                  <c:v>27.6</c:v>
                </c:pt>
                <c:pt idx="16">
                  <c:v>23</c:v>
                </c:pt>
                <c:pt idx="17">
                  <c:v>0</c:v>
                </c:pt>
                <c:pt idx="18">
                  <c:v>16.6</c:v>
                </c:pt>
                <c:pt idx="19">
                  <c:v>12</c:v>
                </c:pt>
                <c:pt idx="20">
                  <c:v>5.2</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xVal>
          <c:yVal>
            <c:numRef>
              <c:f>Sheet1!$E$2:$E$51</c:f>
              <c:numCache>
                <c:formatCode>General</c:formatCode>
                <c:ptCount val="5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66</c:v>
                </c:pt>
                <c:pt idx="19">
                  <c:v>64</c:v>
                </c:pt>
                <c:pt idx="20">
                  <c:v>62</c:v>
                </c:pt>
                <c:pt idx="21">
                  <c:v>22</c:v>
                </c:pt>
                <c:pt idx="22">
                  <c:v>20</c:v>
                </c:pt>
                <c:pt idx="23">
                  <c:v>56</c:v>
                </c:pt>
                <c:pt idx="24">
                  <c:v>32</c:v>
                </c:pt>
                <c:pt idx="25">
                  <c:v>54</c:v>
                </c:pt>
                <c:pt idx="26">
                  <c:v>4</c:v>
                </c:pt>
                <c:pt idx="27">
                  <c:v>10</c:v>
                </c:pt>
                <c:pt idx="28">
                  <c:v>48</c:v>
                </c:pt>
                <c:pt idx="29">
                  <c:v>14</c:v>
                </c:pt>
                <c:pt idx="30">
                  <c:v>2</c:v>
                </c:pt>
                <c:pt idx="31">
                  <c:v>38</c:v>
                </c:pt>
                <c:pt idx="32">
                  <c:v>50</c:v>
                </c:pt>
                <c:pt idx="33">
                  <c:v>60</c:v>
                </c:pt>
                <c:pt idx="34">
                  <c:v>24</c:v>
                </c:pt>
                <c:pt idx="35">
                  <c:v>26</c:v>
                </c:pt>
                <c:pt idx="36">
                  <c:v>18</c:v>
                </c:pt>
                <c:pt idx="37">
                  <c:v>36</c:v>
                </c:pt>
                <c:pt idx="38">
                  <c:v>44</c:v>
                </c:pt>
                <c:pt idx="39">
                  <c:v>16</c:v>
                </c:pt>
                <c:pt idx="40">
                  <c:v>46</c:v>
                </c:pt>
                <c:pt idx="41">
                  <c:v>40</c:v>
                </c:pt>
                <c:pt idx="42">
                  <c:v>12</c:v>
                </c:pt>
                <c:pt idx="43">
                  <c:v>8</c:v>
                </c:pt>
                <c:pt idx="44">
                  <c:v>34</c:v>
                </c:pt>
                <c:pt idx="45">
                  <c:v>28</c:v>
                </c:pt>
                <c:pt idx="46">
                  <c:v>42</c:v>
                </c:pt>
                <c:pt idx="47">
                  <c:v>30</c:v>
                </c:pt>
                <c:pt idx="48">
                  <c:v>6</c:v>
                </c:pt>
                <c:pt idx="49">
                  <c:v>58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000" b="0" i="0" u="none" strike="noStrike">
                    <a:solidFill>
                      <a:srgbClr val="5E7075"/>
                    </a:solidFill>
                    <a:latin typeface="Arial"/>
                  </a:defRPr>
                </a:pPr>
                <a:r>
                  <a:rPr sz="1000" b="0" i="0" u="none" strike="noStrike">
                    <a:solidFill>
                      <a:srgbClr val="5E7075"/>
                    </a:solidFill>
                    <a:latin typeface="Arial"/>
                  </a:rPr>
                  <a:t>Rules score</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5E7075"/>
                </a:solidFill>
                <a:latin typeface="Arial"/>
              </a:defRPr>
            </a:pPr>
            <a:endParaRPr lang="en-US"/>
          </a:p>
        </c:txPr>
        <c:crossAx val="2094734552"/>
        <c:crosses val="autoZero"/>
        <c:auto val="1"/>
        <c:lblAlgn val="ctr"/>
        <c:noMultiLvlLbl val="1"/>
      </c:valAx>
      <c:valAx>
        <c:axId val="2094734552"/>
        <c:scaling>
          <c:orientation val="minMax"/>
          <c:max val="100"/>
          <c:min val="0"/>
        </c:scaling>
        <c:delete val="0"/>
        <c:axPos val="l"/>
        <c:majorGridlines>
          <c:spPr>
            <a:ln w="6350" cap="flat">
              <a:solidFill>
                <a:srgbClr val="E6ECEA"/>
              </a:solidFill>
              <a:prstDash val="solid"/>
              <a:round/>
            </a:ln>
          </c:spPr>
        </c:majorGridlines>
        <c:title>
          <c:tx>
            <c:rich>
              <a:bodyPr/>
              <a:lstStyle/>
              <a:p>
                <a:pPr>
                  <a:defRPr sz="1000" b="0" i="0" u="none" strike="noStrike">
                    <a:solidFill>
                      <a:srgbClr val="5E7075"/>
                    </a:solidFill>
                    <a:latin typeface="Arial"/>
                  </a:defRPr>
                </a:pPr>
                <a:r>
                  <a:rPr sz="1000" b="0" i="0" u="none" strike="noStrike">
                    <a:solidFill>
                      <a:srgbClr val="5E7075"/>
                    </a:solidFill>
                    <a:latin typeface="Arial"/>
                  </a:rPr>
                  <a:t>Isolation Forest percentile</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E7075"/>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5E7075"/>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from the brief: when the investigator opens the tool, the queue is already triaged, with reasoning, evidence and a next step for every case. Everything shown is a working prototype on the supplied 50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describes a reactive tool: paste a claim number, read the signals, repeat. The pain is time spent on benign cases and inconsistency. The product flips this: the AI does the preparation work first, the human stays responsible for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frame with a screenshot of the Overview tab: insert the picture, drag it over the dashed frame, then delete the frame. The numbers on the right are computed from the supplied file: 10 high priority, 7 needs attention, 32 lower priority, 1 data review. High-priority cases hold $337K of the $569K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is the reason for group caps: every signal is strongly correlated with every other. If we simply added up points, a single underlying pattern would be counted many times. The scatter shows flagged cases separating clearly on billing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concentrates in duplicate-billed cases, which is why claim amount is shown as exposure but not used as evidence: large claims are not suspicious by themselves. Care type matters, so peer comparisons are within care type. The repeated claim number is a data-quality issue for claims operations, not a fraud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'isn't a threshold per column odd?'. There is none: two global numbers, 0.75 and 3.0, say where points start and where they are full, measured in robust spreads above the queue median. The table shows the actual cut-offs those produce on this queue, for example distance scores nothing up to 37.6 miles and full points from 84.3 miles. With a different queue they move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caps exist because the signals are highly correlated (slide 4). C1023 has no duplicate billing, but service overlap, shared contact and the new shared contact + overlap combination take it to 62.9, above the high-priority line. Confidence is a separate number: it drops for data issues, thin peer groups, disagreement with the anomaly check, or when small weight changes would flip the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unsupervised techniques on robust-scaled signals. Isolation Forest is averaged across 10 forests because single forests disagreed by up to 30 percentile points on some cases. A case counts as unusual only when two methods agree and the oddness points in a suspicious direction; Isolation Forest alone would also flag unusually small, quiet claims. On this queue the vote changed one priority (C1019) and produced one visible disagreement (C1011).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independent data scientist scored the same cases with Isolation Forest. The two methods agree strongly. Where they disagree, the app says so explicitly. I adopted three things from that review and deliberately kept the transparent score as primary, because without labels investigators need to be able to challenge each point. Isolation Forest also flags unusually small claims, which is why anomalies only count when a case is unusual in a suspicious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of these models plugs in with one setting, and the copilot and narratives behave the same because the guardrails live outside the model. The model never sees or sets a score; it receives an evidence pack and tool results, and its output is checked before anyone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The UI only talks to the service; the service owns all numbers; analytics are deterministic Python; the AI layer reads tool results and is validated; persistence is SQLite with a schema that maps to PostgreSQL. The measured figures come from the benchmark on 100,000 synthetic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comes from verification and control. Nothing the AI writes reaches the investigator unchecked; the AI cannot change a case; every finding can be challenged and the effect is visible; and every step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 property of the architecture, not the web framework. The prototype keeps the service layer independent of the UI, so production is an evolution: put it behind an API and SSO, move to PostgreSQL, and route LLM calls through a gateway with PII masking.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product promise. The next steps show the path from a trustworthy prototype to production: real labels first, then hardening, and automation only when it has earned its place against the transparent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Slide-3-image-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6-image-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3.xml"/><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Slide-9-image-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60120"/>
            <a:ext cx="804672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Fraud Investigator Tool</a:t>
            </a:r>
            <a:endParaRPr lang="en-US" sz="4400" dirty="0"/>
          </a:p>
        </p:txBody>
      </p:sp>
      <p:sp>
        <p:nvSpPr>
          <p:cNvPr id="3" name="Text 1"/>
          <p:cNvSpPr txBox="1"/>
          <p:nvPr/>
        </p:nvSpPr>
        <p:spPr>
          <a:xfrm>
            <a:off x="548640" y="1691640"/>
            <a:ext cx="8046720" cy="411480"/>
          </a:xfrm>
          <a:prstGeom prst="rect">
            <a:avLst/>
          </a:prstGeom>
          <a:noFill/>
          <a:ln/>
        </p:spPr>
        <p:txBody>
          <a:bodyPr wrap="square" lIns="0" tIns="0" rIns="0" bIns="0" rtlCol="0" anchor="ctr"/>
          <a:lstStyle/>
          <a:p>
            <a:pPr indent="0" marL="0">
              <a:buNone/>
            </a:pPr>
            <a:r>
              <a:rPr lang="en-US" sz="2000" dirty="0">
                <a:solidFill>
                  <a:srgbClr val="DCE8EA"/>
                </a:solidFill>
                <a:latin typeface="Calibri" pitchFamily="34" charset="0"/>
                <a:ea typeface="Calibri" pitchFamily="34" charset="-122"/>
                <a:cs typeface="Calibri" pitchFamily="34" charset="-120"/>
              </a:rPr>
              <a:t>An AI-first case review for insurance fraud investigators</a:t>
            </a:r>
            <a:endParaRPr lang="en-US" sz="2000" dirty="0"/>
          </a:p>
        </p:txBody>
      </p:sp>
      <p:sp>
        <p:nvSpPr>
          <p:cNvPr id="4" name="Text 2"/>
          <p:cNvSpPr txBox="1"/>
          <p:nvPr/>
        </p:nvSpPr>
        <p:spPr>
          <a:xfrm>
            <a:off x="548640" y="2148840"/>
            <a:ext cx="8046720" cy="365760"/>
          </a:xfrm>
          <a:prstGeom prst="rect">
            <a:avLst/>
          </a:prstGeom>
          <a:noFill/>
          <a:ln/>
        </p:spPr>
        <p:txBody>
          <a:bodyPr wrap="square" lIns="0" tIns="0" rIns="0" bIns="0" rtlCol="0" anchor="ctr"/>
          <a:lstStyle/>
          <a:p>
            <a:pPr indent="0" marL="0">
              <a:buNone/>
            </a:pPr>
            <a:r>
              <a:rPr lang="en-US" sz="1600" i="1" dirty="0">
                <a:solidFill>
                  <a:srgbClr val="F2B84B"/>
                </a:solidFill>
                <a:latin typeface="Calibri" pitchFamily="34" charset="0"/>
                <a:ea typeface="Calibri" pitchFamily="34" charset="-122"/>
                <a:cs typeface="Calibri" pitchFamily="34" charset="-120"/>
              </a:rPr>
              <a:t>The AI prepares. The investigator decides.</a:t>
            </a:r>
            <a:endParaRPr lang="en-US" sz="1600" dirty="0"/>
          </a:p>
        </p:txBody>
      </p:sp>
      <p:sp>
        <p:nvSpPr>
          <p:cNvPr id="5" name="Shape 3"/>
          <p:cNvSpPr/>
          <p:nvPr/>
        </p:nvSpPr>
        <p:spPr>
          <a:xfrm>
            <a:off x="548640" y="3017520"/>
            <a:ext cx="2468880" cy="1325880"/>
          </a:xfrm>
          <a:prstGeom prst="roundRect">
            <a:avLst>
              <a:gd name="adj" fmla="val 8276"/>
            </a:avLst>
          </a:prstGeom>
          <a:solidFill>
            <a:srgbClr val="FFFFFF">
              <a:alpha val="14000"/>
            </a:srgbClr>
          </a:solidFill>
          <a:ln w="9525">
            <a:solidFill>
              <a:srgbClr val="FFFFFF">
                <a:alpha val="40000"/>
              </a:srgbClr>
            </a:solidFill>
            <a:prstDash val="solid"/>
          </a:ln>
        </p:spPr>
      </p:sp>
      <p:sp>
        <p:nvSpPr>
          <p:cNvPr id="6" name="Text 4"/>
          <p:cNvSpPr txBox="1"/>
          <p:nvPr/>
        </p:nvSpPr>
        <p:spPr>
          <a:xfrm>
            <a:off x="731520" y="3090672"/>
            <a:ext cx="2103120" cy="6400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50</a:t>
            </a:r>
            <a:endParaRPr lang="en-US" sz="3600" dirty="0"/>
          </a:p>
        </p:txBody>
      </p:sp>
      <p:sp>
        <p:nvSpPr>
          <p:cNvPr id="7" name="Text 5"/>
          <p:cNvSpPr txBox="1"/>
          <p:nvPr/>
        </p:nvSpPr>
        <p:spPr>
          <a:xfrm>
            <a:off x="731520" y="3703320"/>
            <a:ext cx="2148840" cy="548640"/>
          </a:xfrm>
          <a:prstGeom prst="rect">
            <a:avLst/>
          </a:prstGeom>
          <a:noFill/>
          <a:ln/>
        </p:spPr>
        <p:txBody>
          <a:bodyPr wrap="square" lIns="0" tIns="0" rIns="0" bIns="0" rtlCol="0" anchor="t"/>
          <a:lstStyle/>
          <a:p>
            <a:pPr indent="0" marL="0">
              <a:buNone/>
            </a:pPr>
            <a:r>
              <a:rPr lang="en-US" sz="1150" dirty="0">
                <a:solidFill>
                  <a:srgbClr val="E6EEF0"/>
                </a:solidFill>
                <a:latin typeface="Calibri" pitchFamily="34" charset="0"/>
                <a:ea typeface="Calibri" pitchFamily="34" charset="-122"/>
                <a:cs typeface="Calibri" pitchFamily="34" charset="-120"/>
              </a:rPr>
              <a:t>referrals assessed before the investigator opens the queue</a:t>
            </a:r>
            <a:endParaRPr lang="en-US" sz="1150" dirty="0"/>
          </a:p>
        </p:txBody>
      </p:sp>
      <p:sp>
        <p:nvSpPr>
          <p:cNvPr id="8" name="Shape 6"/>
          <p:cNvSpPr/>
          <p:nvPr/>
        </p:nvSpPr>
        <p:spPr>
          <a:xfrm>
            <a:off x="3246120" y="3017520"/>
            <a:ext cx="2468880" cy="1325880"/>
          </a:xfrm>
          <a:prstGeom prst="roundRect">
            <a:avLst>
              <a:gd name="adj" fmla="val 8276"/>
            </a:avLst>
          </a:prstGeom>
          <a:solidFill>
            <a:srgbClr val="FFFFFF">
              <a:alpha val="14000"/>
            </a:srgbClr>
          </a:solidFill>
          <a:ln w="9525">
            <a:solidFill>
              <a:srgbClr val="FFFFFF">
                <a:alpha val="40000"/>
              </a:srgbClr>
            </a:solidFill>
            <a:prstDash val="solid"/>
          </a:ln>
        </p:spPr>
      </p:sp>
      <p:sp>
        <p:nvSpPr>
          <p:cNvPr id="9" name="Text 7"/>
          <p:cNvSpPr txBox="1"/>
          <p:nvPr/>
        </p:nvSpPr>
        <p:spPr>
          <a:xfrm>
            <a:off x="3429000" y="3090672"/>
            <a:ext cx="2103120" cy="6400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10</a:t>
            </a:r>
            <a:endParaRPr lang="en-US" sz="3600" dirty="0"/>
          </a:p>
        </p:txBody>
      </p:sp>
      <p:sp>
        <p:nvSpPr>
          <p:cNvPr id="10" name="Text 8"/>
          <p:cNvSpPr txBox="1"/>
          <p:nvPr/>
        </p:nvSpPr>
        <p:spPr>
          <a:xfrm>
            <a:off x="3429000" y="3703320"/>
            <a:ext cx="2148840" cy="548640"/>
          </a:xfrm>
          <a:prstGeom prst="rect">
            <a:avLst/>
          </a:prstGeom>
          <a:noFill/>
          <a:ln/>
        </p:spPr>
        <p:txBody>
          <a:bodyPr wrap="square" lIns="0" tIns="0" rIns="0" bIns="0" rtlCol="0" anchor="t"/>
          <a:lstStyle/>
          <a:p>
            <a:pPr indent="0" marL="0">
              <a:buNone/>
            </a:pPr>
            <a:r>
              <a:rPr lang="en-US" sz="1150" dirty="0">
                <a:solidFill>
                  <a:srgbClr val="E6EEF0"/>
                </a:solidFill>
                <a:latin typeface="Calibri" pitchFamily="34" charset="0"/>
                <a:ea typeface="Calibri" pitchFamily="34" charset="-122"/>
                <a:cs typeface="Calibri" pitchFamily="34" charset="-120"/>
              </a:rPr>
              <a:t>flagged for first review, holding $337K of $569K claimed</a:t>
            </a:r>
            <a:endParaRPr lang="en-US" sz="1150" dirty="0"/>
          </a:p>
        </p:txBody>
      </p:sp>
      <p:sp>
        <p:nvSpPr>
          <p:cNvPr id="11" name="Shape 9"/>
          <p:cNvSpPr/>
          <p:nvPr/>
        </p:nvSpPr>
        <p:spPr>
          <a:xfrm>
            <a:off x="5943600" y="3017520"/>
            <a:ext cx="2468880" cy="1325880"/>
          </a:xfrm>
          <a:prstGeom prst="roundRect">
            <a:avLst>
              <a:gd name="adj" fmla="val 8276"/>
            </a:avLst>
          </a:prstGeom>
          <a:solidFill>
            <a:srgbClr val="FFFFFF">
              <a:alpha val="14000"/>
            </a:srgbClr>
          </a:solidFill>
          <a:ln w="9525">
            <a:solidFill>
              <a:srgbClr val="FFFFFF">
                <a:alpha val="40000"/>
              </a:srgbClr>
            </a:solidFill>
            <a:prstDash val="solid"/>
          </a:ln>
        </p:spPr>
      </p:sp>
      <p:sp>
        <p:nvSpPr>
          <p:cNvPr id="12" name="Text 10"/>
          <p:cNvSpPr txBox="1"/>
          <p:nvPr/>
        </p:nvSpPr>
        <p:spPr>
          <a:xfrm>
            <a:off x="6126480" y="3090672"/>
            <a:ext cx="2103120" cy="6400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140</a:t>
            </a:r>
            <a:endParaRPr lang="en-US" sz="3600" dirty="0"/>
          </a:p>
        </p:txBody>
      </p:sp>
      <p:sp>
        <p:nvSpPr>
          <p:cNvPr id="13" name="Text 11"/>
          <p:cNvSpPr txBox="1"/>
          <p:nvPr/>
        </p:nvSpPr>
        <p:spPr>
          <a:xfrm>
            <a:off x="6126480" y="3703320"/>
            <a:ext cx="2148840" cy="548640"/>
          </a:xfrm>
          <a:prstGeom prst="rect">
            <a:avLst/>
          </a:prstGeom>
          <a:noFill/>
          <a:ln/>
        </p:spPr>
        <p:txBody>
          <a:bodyPr wrap="square" lIns="0" tIns="0" rIns="0" bIns="0" rtlCol="0" anchor="t"/>
          <a:lstStyle/>
          <a:p>
            <a:pPr indent="0" marL="0">
              <a:buNone/>
            </a:pPr>
            <a:r>
              <a:rPr lang="en-US" sz="1150" dirty="0">
                <a:solidFill>
                  <a:srgbClr val="E6EEF0"/>
                </a:solidFill>
                <a:latin typeface="Calibri" pitchFamily="34" charset="0"/>
                <a:ea typeface="Calibri" pitchFamily="34" charset="-122"/>
                <a:cs typeface="Calibri" pitchFamily="34" charset="-120"/>
              </a:rPr>
              <a:t>automated evaluation checks passing</a:t>
            </a:r>
            <a:endParaRPr lang="en-US" sz="1150" dirty="0"/>
          </a:p>
        </p:txBody>
      </p:sp>
      <p:sp>
        <p:nvSpPr>
          <p:cNvPr id="14" name="Text 12"/>
          <p:cNvSpPr txBox="1"/>
          <p:nvPr/>
        </p:nvSpPr>
        <p:spPr>
          <a:xfrm>
            <a:off x="548640" y="4617720"/>
            <a:ext cx="8046720" cy="274320"/>
          </a:xfrm>
          <a:prstGeom prst="rect">
            <a:avLst/>
          </a:prstGeom>
          <a:noFill/>
          <a:ln/>
        </p:spPr>
        <p:txBody>
          <a:bodyPr wrap="square" lIns="0" tIns="0" rIns="0" bIns="0" rtlCol="0" anchor="ctr"/>
          <a:lstStyle/>
          <a:p>
            <a:pPr indent="0" marL="0">
              <a:buNone/>
            </a:pPr>
            <a:r>
              <a:rPr lang="en-US" sz="1000" dirty="0">
                <a:solidFill>
                  <a:srgbClr val="BFD2D6"/>
                </a:solidFill>
                <a:latin typeface="Calibri" pitchFamily="34" charset="0"/>
                <a:ea typeface="Calibri" pitchFamily="34" charset="-122"/>
                <a:cs typeface="Calibri" pitchFamily="34" charset="-120"/>
              </a:rPr>
              <a:t>Take-home assignment · Working prototype walkthrough</a:t>
            </a:r>
            <a:endParaRPr lang="en-US" sz="10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From a reactive tool to a prepared queue</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Who it is for and the job it does</a:t>
            </a:r>
            <a:endParaRPr lang="en-US" sz="1300" dirty="0"/>
          </a:p>
        </p:txBody>
      </p:sp>
      <p:sp>
        <p:nvSpPr>
          <p:cNvPr id="4" name="Shape 2"/>
          <p:cNvSpPr/>
          <p:nvPr/>
        </p:nvSpPr>
        <p:spPr>
          <a:xfrm>
            <a:off x="457200" y="1280160"/>
            <a:ext cx="3977640" cy="2651760"/>
          </a:xfrm>
          <a:prstGeom prst="roundRect">
            <a:avLst>
              <a:gd name="adj" fmla="val 4138"/>
            </a:avLst>
          </a:prstGeom>
          <a:solidFill>
            <a:srgbClr val="F4F6F7"/>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5" name="Shape 3"/>
          <p:cNvSpPr/>
          <p:nvPr/>
        </p:nvSpPr>
        <p:spPr>
          <a:xfrm>
            <a:off x="4709160" y="1280160"/>
            <a:ext cx="3977640" cy="2651760"/>
          </a:xfrm>
          <a:prstGeom prst="roundRect">
            <a:avLst>
              <a:gd name="adj" fmla="val 4138"/>
            </a:avLst>
          </a:prstGeom>
          <a:solidFill>
            <a:srgbClr val="E3F1EE"/>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6" name="Shape 4"/>
          <p:cNvSpPr/>
          <p:nvPr/>
        </p:nvSpPr>
        <p:spPr>
          <a:xfrm>
            <a:off x="685800" y="1463040"/>
            <a:ext cx="457200" cy="457200"/>
          </a:xfrm>
          <a:prstGeom prst="ellipse">
            <a:avLst/>
          </a:prstGeom>
          <a:solidFill>
            <a:srgbClr val="5E7075"/>
          </a:solidFill>
          <a:ln w="12700">
            <a:solidFill>
              <a:srgbClr val="5E7075"/>
            </a:solidFill>
            <a:prstDash val="solid"/>
          </a:ln>
        </p:spPr>
      </p:sp>
      <p:pic>
        <p:nvPicPr>
          <p:cNvPr id="7" name="Image 0" descr="preencoded.png">    </p:cNvPr>
          <p:cNvPicPr>
            <a:picLocks noChangeAspect="1"/>
          </p:cNvPicPr>
          <p:nvPr/>
        </p:nvPicPr>
        <p:blipFill>
          <a:blip r:embed="rId2"/>
          <a:stretch>
            <a:fillRect/>
          </a:stretch>
        </p:blipFill>
        <p:spPr>
          <a:xfrm>
            <a:off x="795528" y="1572768"/>
            <a:ext cx="237744" cy="237744"/>
          </a:xfrm>
          <a:prstGeom prst="rect">
            <a:avLst/>
          </a:prstGeom>
        </p:spPr>
      </p:pic>
      <p:sp>
        <p:nvSpPr>
          <p:cNvPr id="8" name="Shape 5"/>
          <p:cNvSpPr/>
          <p:nvPr/>
        </p:nvSpPr>
        <p:spPr>
          <a:xfrm>
            <a:off x="4937760" y="1463040"/>
            <a:ext cx="457200" cy="457200"/>
          </a:xfrm>
          <a:prstGeom prst="ellipse">
            <a:avLst/>
          </a:prstGeom>
          <a:solidFill>
            <a:srgbClr val="2F5D62"/>
          </a:solidFill>
          <a:ln w="12700">
            <a:solidFill>
              <a:srgbClr val="2F5D62"/>
            </a:solidFill>
            <a:prstDash val="solid"/>
          </a:ln>
        </p:spPr>
      </p:sp>
      <p:pic>
        <p:nvPicPr>
          <p:cNvPr id="9" name="Image 1" descr="preencoded.png">    </p:cNvPr>
          <p:cNvPicPr>
            <a:picLocks noChangeAspect="1"/>
          </p:cNvPicPr>
          <p:nvPr/>
        </p:nvPicPr>
        <p:blipFill>
          <a:blip r:embed="rId3"/>
          <a:stretch>
            <a:fillRect/>
          </a:stretch>
        </p:blipFill>
        <p:spPr>
          <a:xfrm>
            <a:off x="5047488" y="1572768"/>
            <a:ext cx="237744" cy="237744"/>
          </a:xfrm>
          <a:prstGeom prst="rect">
            <a:avLst/>
          </a:prstGeom>
        </p:spPr>
      </p:pic>
      <p:sp>
        <p:nvSpPr>
          <p:cNvPr id="10" name="Text 6"/>
          <p:cNvSpPr txBox="1"/>
          <p:nvPr/>
        </p:nvSpPr>
        <p:spPr>
          <a:xfrm>
            <a:off x="1280160" y="1490472"/>
            <a:ext cx="2926080" cy="411480"/>
          </a:xfrm>
          <a:prstGeom prst="rect">
            <a:avLst/>
          </a:prstGeom>
          <a:noFill/>
          <a:ln/>
        </p:spPr>
        <p:txBody>
          <a:bodyPr wrap="square" lIns="0" tIns="0" rIns="0" bIns="0" rtlCol="0" anchor="ctr"/>
          <a:lstStyle/>
          <a:p>
            <a:pPr indent="0" marL="0">
              <a:buNone/>
            </a:pPr>
            <a:r>
              <a:rPr lang="en-US" sz="1800" b="1" dirty="0">
                <a:solidFill>
                  <a:srgbClr val="17262B"/>
                </a:solidFill>
                <a:latin typeface="Calibri" pitchFamily="34" charset="0"/>
                <a:ea typeface="Calibri" pitchFamily="34" charset="-122"/>
                <a:cs typeface="Calibri" pitchFamily="34" charset="-120"/>
              </a:rPr>
              <a:t>Today</a:t>
            </a:r>
            <a:endParaRPr lang="en-US" sz="1800" dirty="0"/>
          </a:p>
        </p:txBody>
      </p:sp>
      <p:sp>
        <p:nvSpPr>
          <p:cNvPr id="11" name="Text 7"/>
          <p:cNvSpPr txBox="1"/>
          <p:nvPr/>
        </p:nvSpPr>
        <p:spPr>
          <a:xfrm>
            <a:off x="5532120" y="1490472"/>
            <a:ext cx="3017520" cy="411480"/>
          </a:xfrm>
          <a:prstGeom prst="rect">
            <a:avLst/>
          </a:prstGeom>
          <a:noFill/>
          <a:ln/>
        </p:spPr>
        <p:txBody>
          <a:bodyPr wrap="square" lIns="0" tIns="0" rIns="0" bIns="0" rtlCol="0" anchor="ctr"/>
          <a:lstStyle/>
          <a:p>
            <a:pPr indent="0" marL="0">
              <a:buNone/>
            </a:pPr>
            <a:r>
              <a:rPr lang="en-US" sz="1800" b="1" dirty="0">
                <a:solidFill>
                  <a:srgbClr val="2F5D62"/>
                </a:solidFill>
                <a:latin typeface="Calibri" pitchFamily="34" charset="0"/>
                <a:ea typeface="Calibri" pitchFamily="34" charset="-122"/>
                <a:cs typeface="Calibri" pitchFamily="34" charset="-120"/>
              </a:rPr>
              <a:t>With AI-first triage</a:t>
            </a:r>
            <a:endParaRPr lang="en-US" sz="1800" dirty="0"/>
          </a:p>
        </p:txBody>
      </p:sp>
      <p:sp>
        <p:nvSpPr>
          <p:cNvPr id="12" name="Text 8"/>
          <p:cNvSpPr txBox="1"/>
          <p:nvPr/>
        </p:nvSpPr>
        <p:spPr>
          <a:xfrm>
            <a:off x="731520" y="2057400"/>
            <a:ext cx="3520440" cy="17830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7262B"/>
                </a:solidFill>
                <a:latin typeface="Calibri" pitchFamily="34" charset="0"/>
                <a:ea typeface="Calibri" pitchFamily="34" charset="-122"/>
                <a:cs typeface="Calibri" pitchFamily="34" charset="-120"/>
              </a:rPr>
              <a:t>Paste a claim number, pull the data by hand</a:t>
            </a:r>
            <a:endParaRPr lang="en-US" sz="1250" dirty="0"/>
          </a:p>
          <a:p>
            <a:pPr marL="342900" indent="-342900">
              <a:spcAft>
                <a:spcPts val="600"/>
              </a:spcAft>
              <a:buSzPct val="100000"/>
              <a:buChar char="•"/>
            </a:pPr>
            <a:r>
              <a:rPr lang="en-US" sz="1250" dirty="0">
                <a:solidFill>
                  <a:srgbClr val="17262B"/>
                </a:solidFill>
                <a:latin typeface="Calibri" pitchFamily="34" charset="0"/>
                <a:ea typeface="Calibri" pitchFamily="34" charset="-122"/>
                <a:cs typeface="Calibri" pitchFamily="34" charset="-120"/>
              </a:rPr>
              <a:t>Read dozens of signals per case to decide what matters</a:t>
            </a:r>
            <a:endParaRPr lang="en-US" sz="1250" dirty="0"/>
          </a:p>
          <a:p>
            <a:pPr marL="342900" indent="-342900">
              <a:spcAft>
                <a:spcPts val="600"/>
              </a:spcAft>
              <a:buSzPct val="100000"/>
              <a:buChar char="•"/>
            </a:pPr>
            <a:r>
              <a:rPr lang="en-US" sz="1250" dirty="0">
                <a:solidFill>
                  <a:srgbClr val="17262B"/>
                </a:solidFill>
                <a:latin typeface="Calibri" pitchFamily="34" charset="0"/>
                <a:ea typeface="Calibri" pitchFamily="34" charset="-122"/>
                <a:cs typeface="Calibri" pitchFamily="34" charset="-120"/>
              </a:rPr>
              <a:t>Inconsistent calls between investigators</a:t>
            </a:r>
            <a:endParaRPr lang="en-US" sz="1250" dirty="0"/>
          </a:p>
          <a:p>
            <a:pPr marL="342900" indent="-342900">
              <a:spcAft>
                <a:spcPts val="600"/>
              </a:spcAft>
              <a:buSzPct val="100000"/>
              <a:buChar char="•"/>
            </a:pPr>
            <a:r>
              <a:rPr lang="en-US" sz="1250" dirty="0">
                <a:solidFill>
                  <a:srgbClr val="17262B"/>
                </a:solidFill>
                <a:latin typeface="Calibri" pitchFamily="34" charset="0"/>
                <a:ea typeface="Calibri" pitchFamily="34" charset="-122"/>
                <a:cs typeface="Calibri" pitchFamily="34" charset="-120"/>
              </a:rPr>
              <a:t>Most time spent on referrals that turn out benign</a:t>
            </a:r>
            <a:endParaRPr lang="en-US" sz="1250" dirty="0"/>
          </a:p>
        </p:txBody>
      </p:sp>
      <p:sp>
        <p:nvSpPr>
          <p:cNvPr id="13" name="Text 9"/>
          <p:cNvSpPr txBox="1"/>
          <p:nvPr/>
        </p:nvSpPr>
        <p:spPr>
          <a:xfrm>
            <a:off x="4983480" y="2057400"/>
            <a:ext cx="3520440" cy="17830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7262B"/>
                </a:solidFill>
                <a:latin typeface="Calibri" pitchFamily="34" charset="0"/>
                <a:ea typeface="Calibri" pitchFamily="34" charset="-122"/>
                <a:cs typeface="Calibri" pitchFamily="34" charset="-120"/>
              </a:rPr>
              <a:t>Every referral assessed and ordered before work starts</a:t>
            </a:r>
            <a:endParaRPr lang="en-US" sz="1250" dirty="0"/>
          </a:p>
          <a:p>
            <a:pPr marL="342900" indent="-342900">
              <a:spcAft>
                <a:spcPts val="600"/>
              </a:spcAft>
              <a:buSzPct val="100000"/>
              <a:buChar char="•"/>
            </a:pPr>
            <a:r>
              <a:rPr lang="en-US" sz="1250" dirty="0">
                <a:solidFill>
                  <a:srgbClr val="17262B"/>
                </a:solidFill>
                <a:latin typeface="Calibri" pitchFamily="34" charset="0"/>
                <a:ea typeface="Calibri" pitchFamily="34" charset="-122"/>
                <a:cs typeface="Calibri" pitchFamily="34" charset="-120"/>
              </a:rPr>
              <a:t>Evidence, counter-evidence and a next step per case</a:t>
            </a:r>
            <a:endParaRPr lang="en-US" sz="1250" dirty="0"/>
          </a:p>
          <a:p>
            <a:pPr marL="342900" indent="-342900">
              <a:spcAft>
                <a:spcPts val="600"/>
              </a:spcAft>
              <a:buSzPct val="100000"/>
              <a:buChar char="•"/>
            </a:pPr>
            <a:r>
              <a:rPr lang="en-US" sz="1250" dirty="0">
                <a:solidFill>
                  <a:srgbClr val="17262B"/>
                </a:solidFill>
                <a:latin typeface="Calibri" pitchFamily="34" charset="0"/>
                <a:ea typeface="Calibri" pitchFamily="34" charset="-122"/>
                <a:cs typeface="Calibri" pitchFamily="34" charset="-120"/>
              </a:rPr>
              <a:t>The same transparent rules for every investigator</a:t>
            </a:r>
            <a:endParaRPr lang="en-US" sz="1250" dirty="0"/>
          </a:p>
          <a:p>
            <a:pPr marL="342900" indent="-342900">
              <a:spcAft>
                <a:spcPts val="600"/>
              </a:spcAft>
              <a:buSzPct val="100000"/>
              <a:buChar char="•"/>
            </a:pPr>
            <a:r>
              <a:rPr lang="en-US" sz="1250" dirty="0">
                <a:solidFill>
                  <a:srgbClr val="17262B"/>
                </a:solidFill>
                <a:latin typeface="Calibri" pitchFamily="34" charset="0"/>
                <a:ea typeface="Calibri" pitchFamily="34" charset="-122"/>
                <a:cs typeface="Calibri" pitchFamily="34" charset="-120"/>
              </a:rPr>
              <a:t>Low-priority cases cleared fast; time goes where it matters</a:t>
            </a:r>
            <a:endParaRPr lang="en-US" sz="1250" dirty="0"/>
          </a:p>
        </p:txBody>
      </p:sp>
      <p:sp>
        <p:nvSpPr>
          <p:cNvPr id="14" name="Shape 10"/>
          <p:cNvSpPr/>
          <p:nvPr/>
        </p:nvSpPr>
        <p:spPr>
          <a:xfrm>
            <a:off x="457200" y="4114800"/>
            <a:ext cx="8229600" cy="603504"/>
          </a:xfrm>
          <a:prstGeom prst="roundRect">
            <a:avLst>
              <a:gd name="adj" fmla="val 18182"/>
            </a:avLst>
          </a:prstGeom>
          <a:solidFill>
            <a:srgbClr val="ECEBFA"/>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5" name="Shape 11"/>
          <p:cNvSpPr/>
          <p:nvPr/>
        </p:nvSpPr>
        <p:spPr>
          <a:xfrm>
            <a:off x="640080" y="4187952"/>
            <a:ext cx="457200" cy="457200"/>
          </a:xfrm>
          <a:prstGeom prst="ellipse">
            <a:avLst/>
          </a:prstGeom>
          <a:solidFill>
            <a:srgbClr val="4E5AA8"/>
          </a:solidFill>
          <a:ln w="12700">
            <a:solidFill>
              <a:srgbClr val="4E5AA8"/>
            </a:solidFill>
            <a:prstDash val="solid"/>
          </a:ln>
        </p:spPr>
      </p:sp>
      <p:pic>
        <p:nvPicPr>
          <p:cNvPr id="16" name="Image 2" descr="preencoded.png">    </p:cNvPr>
          <p:cNvPicPr>
            <a:picLocks noChangeAspect="1"/>
          </p:cNvPicPr>
          <p:nvPr/>
        </p:nvPicPr>
        <p:blipFill>
          <a:blip r:embed="rId4"/>
          <a:stretch>
            <a:fillRect/>
          </a:stretch>
        </p:blipFill>
        <p:spPr>
          <a:xfrm>
            <a:off x="749808" y="4297680"/>
            <a:ext cx="237744" cy="237744"/>
          </a:xfrm>
          <a:prstGeom prst="rect">
            <a:avLst/>
          </a:prstGeom>
        </p:spPr>
      </p:pic>
      <p:sp>
        <p:nvSpPr>
          <p:cNvPr id="17" name="Text 12"/>
          <p:cNvSpPr txBox="1"/>
          <p:nvPr/>
        </p:nvSpPr>
        <p:spPr>
          <a:xfrm>
            <a:off x="1234440" y="4142232"/>
            <a:ext cx="7315200" cy="548640"/>
          </a:xfrm>
          <a:prstGeom prst="rect">
            <a:avLst/>
          </a:prstGeom>
          <a:noFill/>
          <a:ln/>
        </p:spPr>
        <p:txBody>
          <a:bodyPr wrap="square" lIns="0" tIns="0" rIns="0" bIns="0" rtlCol="0" anchor="ctr"/>
          <a:lstStyle/>
          <a:p>
            <a:pPr indent="0" marL="0">
              <a:buNone/>
            </a:pPr>
            <a:r>
              <a:rPr lang="en-US" sz="1250" b="1" dirty="0">
                <a:solidFill>
                  <a:srgbClr val="4E5AA8"/>
                </a:solidFill>
                <a:latin typeface="Calibri" pitchFamily="34" charset="0"/>
                <a:ea typeface="Calibri" pitchFamily="34" charset="-122"/>
                <a:cs typeface="Calibri" pitchFamily="34" charset="-120"/>
              </a:rPr>
              <a:t>User: </a:t>
            </a:r>
            <a:pPr indent="0" marL="0">
              <a:buNone/>
            </a:pPr>
            <a:r>
              <a:rPr lang="en-US" sz="1250" dirty="0">
                <a:solidFill>
                  <a:srgbClr val="17262B"/>
                </a:solidFill>
                <a:latin typeface="Calibri" pitchFamily="34" charset="0"/>
                <a:ea typeface="Calibri" pitchFamily="34" charset="-122"/>
                <a:cs typeface="Calibri" pitchFamily="34" charset="-120"/>
              </a:rPr>
              <a:t>a fraud investigator working a daily referral queue.   </a:t>
            </a:r>
            <a:pPr indent="0" marL="0">
              <a:buNone/>
            </a:pPr>
            <a:r>
              <a:rPr lang="en-US" sz="1250" b="1" dirty="0">
                <a:solidFill>
                  <a:srgbClr val="4E5AA8"/>
                </a:solidFill>
                <a:latin typeface="Calibri" pitchFamily="34" charset="0"/>
                <a:ea typeface="Calibri" pitchFamily="34" charset="-122"/>
                <a:cs typeface="Calibri" pitchFamily="34" charset="-120"/>
              </a:rPr>
              <a:t>Job to be done: </a:t>
            </a:r>
            <a:pPr indent="0" marL="0">
              <a:buNone/>
            </a:pPr>
            <a:r>
              <a:rPr lang="en-US" sz="1250" dirty="0">
                <a:solidFill>
                  <a:srgbClr val="17262B"/>
                </a:solidFill>
                <a:latin typeface="Calibri" pitchFamily="34" charset="0"/>
                <a:ea typeface="Calibri" pitchFamily="34" charset="-122"/>
                <a:cs typeface="Calibri" pitchFamily="34" charset="-120"/>
              </a:rPr>
              <a:t>decide quickly and defensibly which referrals deserve investigation time.</a:t>
            </a:r>
            <a:endParaRPr lang="en-US" sz="1250" dirty="0"/>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The dashboard: the morning queue at a glance</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Live numbers from the supplied 50 cases</a:t>
            </a:r>
            <a:endParaRPr lang="en-US" sz="1300" dirty="0"/>
          </a:p>
        </p:txBody>
      </p:sp>
      <p:sp>
        <p:nvSpPr>
          <p:cNvPr id="4" name="Shape 2"/>
          <p:cNvSpPr/>
          <p:nvPr/>
        </p:nvSpPr>
        <p:spPr>
          <a:xfrm>
            <a:off x="457200" y="1234440"/>
            <a:ext cx="5394960" cy="3474720"/>
          </a:xfrm>
          <a:prstGeom prst="roundRect">
            <a:avLst>
              <a:gd name="adj" fmla="val 3158"/>
            </a:avLst>
          </a:prstGeom>
          <a:solidFill>
            <a:srgbClr val="F7F9F9"/>
          </a:solidFill>
          <a:ln w="15875">
            <a:solidFill>
              <a:srgbClr val="AFC0BC"/>
            </a:solidFill>
            <a:prstDash val="dash"/>
          </a:ln>
        </p:spPr>
      </p:sp>
      <p:sp>
        <p:nvSpPr>
          <p:cNvPr id="5" name="Shape 3"/>
          <p:cNvSpPr/>
          <p:nvPr/>
        </p:nvSpPr>
        <p:spPr>
          <a:xfrm>
            <a:off x="2834640" y="2331720"/>
            <a:ext cx="640080" cy="640080"/>
          </a:xfrm>
          <a:prstGeom prst="ellipse">
            <a:avLst/>
          </a:prstGeom>
          <a:solidFill>
            <a:srgbClr val="AFC0BC"/>
          </a:solidFill>
          <a:ln w="12700">
            <a:solidFill>
              <a:srgbClr val="AFC0BC"/>
            </a:solidFill>
            <a:prstDash val="solid"/>
          </a:ln>
        </p:spPr>
      </p:sp>
      <p:pic>
        <p:nvPicPr>
          <p:cNvPr id="6" name="Image 0" descr="preencoded.png">    </p:cNvPr>
          <p:cNvPicPr>
            <a:picLocks noChangeAspect="1"/>
          </p:cNvPicPr>
          <p:nvPr/>
        </p:nvPicPr>
        <p:blipFill>
          <a:blip r:embed="rId2"/>
          <a:stretch>
            <a:fillRect/>
          </a:stretch>
        </p:blipFill>
        <p:spPr>
          <a:xfrm>
            <a:off x="2988259" y="2485339"/>
            <a:ext cx="332842" cy="332842"/>
          </a:xfrm>
          <a:prstGeom prst="rect">
            <a:avLst/>
          </a:prstGeom>
        </p:spPr>
      </p:pic>
      <p:sp>
        <p:nvSpPr>
          <p:cNvPr id="7" name="Text 4"/>
          <p:cNvSpPr txBox="1"/>
          <p:nvPr/>
        </p:nvSpPr>
        <p:spPr>
          <a:xfrm>
            <a:off x="457200" y="3063240"/>
            <a:ext cx="5394960" cy="365760"/>
          </a:xfrm>
          <a:prstGeom prst="rect">
            <a:avLst/>
          </a:prstGeom>
          <a:noFill/>
          <a:ln/>
        </p:spPr>
        <p:txBody>
          <a:bodyPr wrap="square" lIns="0" tIns="0" rIns="0" bIns="0" rtlCol="0" anchor="ctr"/>
          <a:lstStyle/>
          <a:p>
            <a:pPr algn="ctr" indent="0" marL="0">
              <a:buNone/>
            </a:pPr>
            <a:r>
              <a:rPr lang="en-US" sz="1500" b="1" dirty="0">
                <a:solidFill>
                  <a:srgbClr val="5E7075"/>
                </a:solidFill>
                <a:latin typeface="Calibri" pitchFamily="34" charset="0"/>
                <a:ea typeface="Calibri" pitchFamily="34" charset="-122"/>
                <a:cs typeface="Calibri" pitchFamily="34" charset="-120"/>
              </a:rPr>
              <a:t>Paste a dashboard screenshot here</a:t>
            </a:r>
            <a:endParaRPr lang="en-US" sz="1500" dirty="0"/>
          </a:p>
        </p:txBody>
      </p:sp>
      <p:sp>
        <p:nvSpPr>
          <p:cNvPr id="8" name="Text 5"/>
          <p:cNvSpPr txBox="1"/>
          <p:nvPr/>
        </p:nvSpPr>
        <p:spPr>
          <a:xfrm>
            <a:off x="822960" y="3429000"/>
            <a:ext cx="4663440" cy="457200"/>
          </a:xfrm>
          <a:prstGeom prst="rect">
            <a:avLst/>
          </a:prstGeom>
          <a:noFill/>
          <a:ln/>
        </p:spPr>
        <p:txBody>
          <a:bodyPr wrap="square" lIns="0" tIns="0" rIns="0" bIns="0" rtlCol="0" anchor="ctr"/>
          <a:lstStyle/>
          <a:p>
            <a:pPr algn="ctr" indent="0" marL="0">
              <a:buNone/>
            </a:pPr>
            <a:r>
              <a:rPr lang="en-US" sz="1100" dirty="0">
                <a:solidFill>
                  <a:srgbClr val="5E7075"/>
                </a:solidFill>
                <a:latin typeface="Calibri" pitchFamily="34" charset="0"/>
                <a:ea typeface="Calibri" pitchFamily="34" charset="-122"/>
                <a:cs typeface="Calibri" pitchFamily="34" charset="-120"/>
              </a:rPr>
              <a:t>Overview tab, full browser window. Insert the picture, size it over this frame, then delete the frame.</a:t>
            </a:r>
            <a:endParaRPr lang="en-US" sz="1100" dirty="0"/>
          </a:p>
        </p:txBody>
      </p:sp>
      <p:sp>
        <p:nvSpPr>
          <p:cNvPr id="9" name="Shape 6"/>
          <p:cNvSpPr/>
          <p:nvPr/>
        </p:nvSpPr>
        <p:spPr>
          <a:xfrm>
            <a:off x="6080760" y="1234440"/>
            <a:ext cx="2606040" cy="1783080"/>
          </a:xfrm>
          <a:prstGeom prst="roundRect">
            <a:avLst>
              <a:gd name="adj" fmla="val 6154"/>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graphicFrame>
        <p:nvGraphicFramePr>
          <p:cNvPr id="10" name="Chart 0" descr=""/>
          <p:cNvGraphicFramePr/>
          <p:nvPr/>
        </p:nvGraphicFramePr>
        <p:xfrm>
          <a:off x="6126480" y="1280160"/>
          <a:ext cx="2514600" cy="1691640"/>
        </p:xfrm>
        <a:graphic xmlns:a="http://schemas.openxmlformats.org/drawingml/2006/main">
          <a:graphicData uri="http://schemas.openxmlformats.org/drawingml/2006/chart">
            <c:chart xmlns:c="http://schemas.openxmlformats.org/drawingml/2006/chart" r:id="rId3"/>
          </a:graphicData>
        </a:graphic>
      </p:graphicFrame>
      <p:sp>
        <p:nvSpPr>
          <p:cNvPr id="11" name="Shape 7"/>
          <p:cNvSpPr/>
          <p:nvPr/>
        </p:nvSpPr>
        <p:spPr>
          <a:xfrm>
            <a:off x="6080760" y="3154680"/>
            <a:ext cx="1261872" cy="731520"/>
          </a:xfrm>
          <a:prstGeom prst="roundRect">
            <a:avLst>
              <a:gd name="adj" fmla="val 15000"/>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2" name="Text 8"/>
          <p:cNvSpPr txBox="1"/>
          <p:nvPr/>
        </p:nvSpPr>
        <p:spPr>
          <a:xfrm>
            <a:off x="6172200" y="3191256"/>
            <a:ext cx="1097280" cy="329184"/>
          </a:xfrm>
          <a:prstGeom prst="rect">
            <a:avLst/>
          </a:prstGeom>
          <a:noFill/>
          <a:ln/>
        </p:spPr>
        <p:txBody>
          <a:bodyPr wrap="square" lIns="0" tIns="0" rIns="0" bIns="0" rtlCol="0" anchor="ctr"/>
          <a:lstStyle/>
          <a:p>
            <a:pPr indent="0" marL="0">
              <a:buNone/>
            </a:pPr>
            <a:r>
              <a:rPr lang="en-US" sz="1700" b="1" dirty="0">
                <a:solidFill>
                  <a:srgbClr val="E07A5F"/>
                </a:solidFill>
                <a:latin typeface="Calibri" pitchFamily="34" charset="0"/>
                <a:ea typeface="Calibri" pitchFamily="34" charset="-122"/>
                <a:cs typeface="Calibri" pitchFamily="34" charset="-120"/>
              </a:rPr>
              <a:t>$337K</a:t>
            </a:r>
            <a:endParaRPr lang="en-US" sz="1700" dirty="0"/>
          </a:p>
        </p:txBody>
      </p:sp>
      <p:sp>
        <p:nvSpPr>
          <p:cNvPr id="13" name="Text 9"/>
          <p:cNvSpPr txBox="1"/>
          <p:nvPr/>
        </p:nvSpPr>
        <p:spPr>
          <a:xfrm>
            <a:off x="6172200" y="3502152"/>
            <a:ext cx="1115568" cy="365760"/>
          </a:xfrm>
          <a:prstGeom prst="rect">
            <a:avLst/>
          </a:prstGeom>
          <a:noFill/>
          <a:ln/>
        </p:spPr>
        <p:txBody>
          <a:bodyPr wrap="square" lIns="0" tIns="0" rIns="0" bIns="0" rtlCol="0" anchor="t"/>
          <a:lstStyle/>
          <a:p>
            <a:pPr indent="0" marL="0">
              <a:buNone/>
            </a:pPr>
            <a:r>
              <a:rPr lang="en-US" sz="800" dirty="0">
                <a:solidFill>
                  <a:srgbClr val="5E7075"/>
                </a:solidFill>
                <a:latin typeface="Calibri" pitchFamily="34" charset="0"/>
                <a:ea typeface="Calibri" pitchFamily="34" charset="-122"/>
                <a:cs typeface="Calibri" pitchFamily="34" charset="-120"/>
              </a:rPr>
              <a:t>of $569K claimed sits in high-priority cases (59%)</a:t>
            </a:r>
            <a:endParaRPr lang="en-US" sz="800" dirty="0"/>
          </a:p>
        </p:txBody>
      </p:sp>
      <p:sp>
        <p:nvSpPr>
          <p:cNvPr id="14" name="Shape 10"/>
          <p:cNvSpPr/>
          <p:nvPr/>
        </p:nvSpPr>
        <p:spPr>
          <a:xfrm>
            <a:off x="7424928" y="3154680"/>
            <a:ext cx="1261872" cy="731520"/>
          </a:xfrm>
          <a:prstGeom prst="roundRect">
            <a:avLst>
              <a:gd name="adj" fmla="val 15000"/>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5" name="Text 11"/>
          <p:cNvSpPr txBox="1"/>
          <p:nvPr/>
        </p:nvSpPr>
        <p:spPr>
          <a:xfrm>
            <a:off x="7516368" y="3191256"/>
            <a:ext cx="1097280" cy="329184"/>
          </a:xfrm>
          <a:prstGeom prst="rect">
            <a:avLst/>
          </a:prstGeom>
          <a:noFill/>
          <a:ln/>
        </p:spPr>
        <p:txBody>
          <a:bodyPr wrap="square" lIns="0" tIns="0" rIns="0" bIns="0" rtlCol="0" anchor="ctr"/>
          <a:lstStyle/>
          <a:p>
            <a:pPr indent="0" marL="0">
              <a:buNone/>
            </a:pPr>
            <a:r>
              <a:rPr lang="en-US" sz="1700" b="1" dirty="0">
                <a:solidFill>
                  <a:srgbClr val="2F5D62"/>
                </a:solidFill>
                <a:latin typeface="Calibri" pitchFamily="34" charset="0"/>
                <a:ea typeface="Calibri" pitchFamily="34" charset="-122"/>
                <a:cs typeface="Calibri" pitchFamily="34" charset="-120"/>
              </a:rPr>
              <a:t>17</a:t>
            </a:r>
            <a:endParaRPr lang="en-US" sz="1700" dirty="0"/>
          </a:p>
        </p:txBody>
      </p:sp>
      <p:sp>
        <p:nvSpPr>
          <p:cNvPr id="16" name="Text 12"/>
          <p:cNvSpPr txBox="1"/>
          <p:nvPr/>
        </p:nvSpPr>
        <p:spPr>
          <a:xfrm>
            <a:off x="7516368" y="3502152"/>
            <a:ext cx="1115568" cy="365760"/>
          </a:xfrm>
          <a:prstGeom prst="rect">
            <a:avLst/>
          </a:prstGeom>
          <a:noFill/>
          <a:ln/>
        </p:spPr>
        <p:txBody>
          <a:bodyPr wrap="square" lIns="0" tIns="0" rIns="0" bIns="0" rtlCol="0" anchor="t"/>
          <a:lstStyle/>
          <a:p>
            <a:pPr indent="0" marL="0">
              <a:buNone/>
            </a:pPr>
            <a:r>
              <a:rPr lang="en-US" sz="800" dirty="0">
                <a:solidFill>
                  <a:srgbClr val="5E7075"/>
                </a:solidFill>
                <a:latin typeface="Calibri" pitchFamily="34" charset="0"/>
                <a:ea typeface="Calibri" pitchFamily="34" charset="-122"/>
                <a:cs typeface="Calibri" pitchFamily="34" charset="-120"/>
              </a:rPr>
              <a:t>cases carry at least one fraud flag</a:t>
            </a:r>
            <a:endParaRPr lang="en-US" sz="800" dirty="0"/>
          </a:p>
        </p:txBody>
      </p:sp>
      <p:sp>
        <p:nvSpPr>
          <p:cNvPr id="17" name="Shape 13"/>
          <p:cNvSpPr/>
          <p:nvPr/>
        </p:nvSpPr>
        <p:spPr>
          <a:xfrm>
            <a:off x="6080760" y="3950208"/>
            <a:ext cx="1261872" cy="731520"/>
          </a:xfrm>
          <a:prstGeom prst="roundRect">
            <a:avLst>
              <a:gd name="adj" fmla="val 15000"/>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8" name="Text 14"/>
          <p:cNvSpPr txBox="1"/>
          <p:nvPr/>
        </p:nvSpPr>
        <p:spPr>
          <a:xfrm>
            <a:off x="6172200" y="3986784"/>
            <a:ext cx="1097280" cy="329184"/>
          </a:xfrm>
          <a:prstGeom prst="rect">
            <a:avLst/>
          </a:prstGeom>
          <a:noFill/>
          <a:ln/>
        </p:spPr>
        <p:txBody>
          <a:bodyPr wrap="square" lIns="0" tIns="0" rIns="0" bIns="0" rtlCol="0" anchor="ctr"/>
          <a:lstStyle/>
          <a:p>
            <a:pPr indent="0" marL="0">
              <a:buNone/>
            </a:pPr>
            <a:r>
              <a:rPr lang="en-US" sz="1700" b="1" dirty="0">
                <a:solidFill>
                  <a:srgbClr val="4E5AA8"/>
                </a:solidFill>
                <a:latin typeface="Calibri" pitchFamily="34" charset="0"/>
                <a:ea typeface="Calibri" pitchFamily="34" charset="-122"/>
                <a:cs typeface="Calibri" pitchFamily="34" charset="-120"/>
              </a:rPr>
              <a:t>2</a:t>
            </a:r>
            <a:endParaRPr lang="en-US" sz="1700" dirty="0"/>
          </a:p>
        </p:txBody>
      </p:sp>
      <p:sp>
        <p:nvSpPr>
          <p:cNvPr id="19" name="Text 15"/>
          <p:cNvSpPr txBox="1"/>
          <p:nvPr/>
        </p:nvSpPr>
        <p:spPr>
          <a:xfrm>
            <a:off x="6172200" y="4297680"/>
            <a:ext cx="1115568" cy="365760"/>
          </a:xfrm>
          <a:prstGeom prst="rect">
            <a:avLst/>
          </a:prstGeom>
          <a:noFill/>
          <a:ln/>
        </p:spPr>
        <p:txBody>
          <a:bodyPr wrap="square" lIns="0" tIns="0" rIns="0" bIns="0" rtlCol="0" anchor="t"/>
          <a:lstStyle/>
          <a:p>
            <a:pPr indent="0" marL="0">
              <a:buNone/>
            </a:pPr>
            <a:r>
              <a:rPr lang="en-US" sz="800" dirty="0">
                <a:solidFill>
                  <a:srgbClr val="5E7075"/>
                </a:solidFill>
                <a:latin typeface="Calibri" pitchFamily="34" charset="0"/>
                <a:ea typeface="Calibri" pitchFamily="34" charset="-122"/>
                <a:cs typeface="Calibri" pitchFamily="34" charset="-120"/>
              </a:rPr>
              <a:t>second-opinion disagreements</a:t>
            </a:r>
            <a:endParaRPr lang="en-US" sz="800" dirty="0"/>
          </a:p>
        </p:txBody>
      </p:sp>
      <p:sp>
        <p:nvSpPr>
          <p:cNvPr id="20" name="Shape 16"/>
          <p:cNvSpPr/>
          <p:nvPr/>
        </p:nvSpPr>
        <p:spPr>
          <a:xfrm>
            <a:off x="7424928" y="3950208"/>
            <a:ext cx="1261872" cy="731520"/>
          </a:xfrm>
          <a:prstGeom prst="roundRect">
            <a:avLst>
              <a:gd name="adj" fmla="val 15000"/>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21" name="Text 17"/>
          <p:cNvSpPr txBox="1"/>
          <p:nvPr/>
        </p:nvSpPr>
        <p:spPr>
          <a:xfrm>
            <a:off x="7516368" y="3986784"/>
            <a:ext cx="1097280" cy="329184"/>
          </a:xfrm>
          <a:prstGeom prst="rect">
            <a:avLst/>
          </a:prstGeom>
          <a:noFill/>
          <a:ln/>
        </p:spPr>
        <p:txBody>
          <a:bodyPr wrap="square" lIns="0" tIns="0" rIns="0" bIns="0" rtlCol="0" anchor="ctr"/>
          <a:lstStyle/>
          <a:p>
            <a:pPr indent="0" marL="0">
              <a:buNone/>
            </a:pPr>
            <a:r>
              <a:rPr lang="en-US" sz="1700" b="1" dirty="0">
                <a:solidFill>
                  <a:srgbClr val="B7791F"/>
                </a:solidFill>
                <a:latin typeface="Calibri" pitchFamily="34" charset="0"/>
                <a:ea typeface="Calibri" pitchFamily="34" charset="-122"/>
                <a:cs typeface="Calibri" pitchFamily="34" charset="-120"/>
              </a:rPr>
              <a:t>1</a:t>
            </a:r>
            <a:endParaRPr lang="en-US" sz="1700" dirty="0"/>
          </a:p>
        </p:txBody>
      </p:sp>
      <p:sp>
        <p:nvSpPr>
          <p:cNvPr id="22" name="Text 18"/>
          <p:cNvSpPr txBox="1"/>
          <p:nvPr/>
        </p:nvSpPr>
        <p:spPr>
          <a:xfrm>
            <a:off x="7516368" y="4297680"/>
            <a:ext cx="1115568" cy="365760"/>
          </a:xfrm>
          <a:prstGeom prst="rect">
            <a:avLst/>
          </a:prstGeom>
          <a:noFill/>
          <a:ln/>
        </p:spPr>
        <p:txBody>
          <a:bodyPr wrap="square" lIns="0" tIns="0" rIns="0" bIns="0" rtlCol="0" anchor="t"/>
          <a:lstStyle/>
          <a:p>
            <a:pPr indent="0" marL="0">
              <a:buNone/>
            </a:pPr>
            <a:r>
              <a:rPr lang="en-US" sz="800" dirty="0">
                <a:solidFill>
                  <a:srgbClr val="5E7075"/>
                </a:solidFill>
                <a:latin typeface="Calibri" pitchFamily="34" charset="0"/>
                <a:ea typeface="Calibri" pitchFamily="34" charset="-122"/>
                <a:cs typeface="Calibri" pitchFamily="34" charset="-120"/>
              </a:rPr>
              <a:t>data-quality issue: a claim number used twice</a:t>
            </a:r>
            <a:endParaRPr lang="en-US" sz="800" dirty="0"/>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What the data shows (1/2): signals move together</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Exploratory analysis of the 50 supplied cases</a:t>
            </a:r>
            <a:endParaRPr lang="en-US" sz="1300" dirty="0"/>
          </a:p>
        </p:txBody>
      </p:sp>
      <p:sp>
        <p:nvSpPr>
          <p:cNvPr id="4" name="Shape 2"/>
          <p:cNvSpPr/>
          <p:nvPr/>
        </p:nvSpPr>
        <p:spPr>
          <a:xfrm>
            <a:off x="457200" y="1234440"/>
            <a:ext cx="3977640" cy="3429000"/>
          </a:xfrm>
          <a:prstGeom prst="roundRect">
            <a:avLst>
              <a:gd name="adj" fmla="val 3200"/>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5" name="Shape 3"/>
          <p:cNvSpPr/>
          <p:nvPr/>
        </p:nvSpPr>
        <p:spPr>
          <a:xfrm>
            <a:off x="4709160" y="1234440"/>
            <a:ext cx="3977640" cy="3429000"/>
          </a:xfrm>
          <a:prstGeom prst="roundRect">
            <a:avLst>
              <a:gd name="adj" fmla="val 3200"/>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pic>
        <p:nvPicPr>
          <p:cNvPr id="6" name="Image 0" descr="nb/cell3_19.png">    </p:cNvPr>
          <p:cNvPicPr>
            <a:picLocks noChangeAspect="1"/>
          </p:cNvPicPr>
          <p:nvPr/>
        </p:nvPicPr>
        <p:blipFill>
          <a:blip r:embed="rId2"/>
          <a:stretch>
            <a:fillRect/>
          </a:stretch>
        </p:blipFill>
        <p:spPr>
          <a:xfrm>
            <a:off x="868680" y="1325880"/>
            <a:ext cx="3154680" cy="2624328"/>
          </a:xfrm>
          <a:prstGeom prst="rect">
            <a:avLst/>
          </a:prstGeom>
        </p:spPr>
      </p:pic>
      <p:pic>
        <p:nvPicPr>
          <p:cNvPr id="7" name="Image 1" descr="nb/cell3_13.png">    </p:cNvPr>
          <p:cNvPicPr>
            <a:picLocks noChangeAspect="1"/>
          </p:cNvPicPr>
          <p:nvPr/>
        </p:nvPicPr>
        <p:blipFill>
          <a:blip r:embed="rId3"/>
          <a:stretch>
            <a:fillRect/>
          </a:stretch>
        </p:blipFill>
        <p:spPr>
          <a:xfrm>
            <a:off x="4983480" y="1371600"/>
            <a:ext cx="3429000" cy="2651760"/>
          </a:xfrm>
          <a:prstGeom prst="rect">
            <a:avLst/>
          </a:prstGeom>
        </p:spPr>
      </p:pic>
      <p:sp>
        <p:nvSpPr>
          <p:cNvPr id="8" name="Text 4"/>
          <p:cNvSpPr txBox="1"/>
          <p:nvPr/>
        </p:nvSpPr>
        <p:spPr>
          <a:xfrm>
            <a:off x="685800" y="3977640"/>
            <a:ext cx="3520440" cy="640080"/>
          </a:xfrm>
          <a:prstGeom prst="rect">
            <a:avLst/>
          </a:prstGeom>
          <a:noFill/>
          <a:ln/>
        </p:spPr>
        <p:txBody>
          <a:bodyPr wrap="square" lIns="0" tIns="0" rIns="0" bIns="0" rtlCol="0" anchor="t"/>
          <a:lstStyle/>
          <a:p>
            <a:pPr indent="0" marL="0">
              <a:buNone/>
            </a:pPr>
            <a:r>
              <a:rPr lang="en-US" sz="1150" b="1" dirty="0">
                <a:solidFill>
                  <a:srgbClr val="2F5D62"/>
                </a:solidFill>
                <a:latin typeface="Calibri" pitchFamily="34" charset="0"/>
                <a:ea typeface="Calibri" pitchFamily="34" charset="-122"/>
                <a:cs typeface="Calibri" pitchFamily="34" charset="-120"/>
              </a:rPr>
              <a:t>All signals correlate 0.63 to 0.93 </a:t>
            </a:r>
            <a:pPr indent="0" marL="0">
              <a:buNone/>
            </a:pPr>
            <a:r>
              <a:rPr lang="en-US" sz="1150" dirty="0">
                <a:solidFill>
                  <a:srgbClr val="17262B"/>
                </a:solidFill>
                <a:latin typeface="Calibri" pitchFamily="34" charset="0"/>
                <a:ea typeface="Calibri" pitchFamily="34" charset="-122"/>
                <a:cs typeface="Calibri" pitchFamily="34" charset="-120"/>
              </a:rPr>
              <a:t>(median 0.81). One pattern can look like ten pieces of evidence, so the scoring caps related signals.</a:t>
            </a:r>
            <a:endParaRPr lang="en-US" sz="1150" dirty="0"/>
          </a:p>
        </p:txBody>
      </p:sp>
      <p:sp>
        <p:nvSpPr>
          <p:cNvPr id="9" name="Text 5"/>
          <p:cNvSpPr txBox="1"/>
          <p:nvPr/>
        </p:nvSpPr>
        <p:spPr>
          <a:xfrm>
            <a:off x="4937760" y="4023360"/>
            <a:ext cx="3520440" cy="594360"/>
          </a:xfrm>
          <a:prstGeom prst="rect">
            <a:avLst/>
          </a:prstGeom>
          <a:noFill/>
          <a:ln/>
        </p:spPr>
        <p:txBody>
          <a:bodyPr wrap="square" lIns="0" tIns="0" rIns="0" bIns="0" rtlCol="0" anchor="t"/>
          <a:lstStyle/>
          <a:p>
            <a:pPr indent="0" marL="0">
              <a:buNone/>
            </a:pPr>
            <a:r>
              <a:rPr lang="en-US" sz="1150" b="1" dirty="0">
                <a:solidFill>
                  <a:srgbClr val="E07A5F"/>
                </a:solidFill>
                <a:latin typeface="Calibri" pitchFamily="34" charset="0"/>
                <a:ea typeface="Calibri" pitchFamily="34" charset="-122"/>
                <a:cs typeface="Calibri" pitchFamily="34" charset="-120"/>
              </a:rPr>
              <a:t>Duplicate-billed cases form their own cluster: </a:t>
            </a:r>
            <a:pPr indent="0" marL="0">
              <a:buNone/>
            </a:pPr>
            <a:r>
              <a:rPr lang="en-US" sz="1150" dirty="0">
                <a:solidFill>
                  <a:srgbClr val="17262B"/>
                </a:solidFill>
                <a:latin typeface="Calibri" pitchFamily="34" charset="0"/>
                <a:ea typeface="Calibri" pitchFamily="34" charset="-122"/>
                <a:cs typeface="Calibri" pitchFamily="34" charset="-120"/>
              </a:rPr>
              <a:t>weekend billing 50% vs 11%, amount +95% vs +2% against peers (medians).</a:t>
            </a:r>
            <a:endParaRPr lang="en-US" sz="1150" dirty="0"/>
          </a:p>
        </p:txBody>
      </p:sp>
      <p:sp>
        <p:nvSpPr>
          <p:cNvPr id="10" name="Text 6"/>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i="1" dirty="0">
                <a:solidFill>
                  <a:srgbClr val="5E7075"/>
                </a:solidFill>
                <a:latin typeface="Calibri" pitchFamily="34" charset="0"/>
                <a:ea typeface="Calibri" pitchFamily="34" charset="-122"/>
                <a:cs typeface="Calibri" pitchFamily="34" charset="-120"/>
              </a:rPr>
              <a:t>Charts: exploratory analysis notebook from an independent data-science review. Figures recomputed from the supplied file.</a:t>
            </a:r>
            <a:endParaRPr lang="en-US" sz="900" dirty="0"/>
          </a:p>
        </p:txBody>
      </p:sp>
    </p:spTree>
  </p:cSld>
  <p:clrMapOvr>
    <a:masterClrMapping/>
  </p:clrMapOvr>
  <p:transition spd="med">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What the data shows (2/2): where risk concentrates</a:t>
            </a:r>
            <a:endParaRPr lang="en-US" sz="2800" dirty="0"/>
          </a:p>
        </p:txBody>
      </p:sp>
      <p:sp>
        <p:nvSpPr>
          <p:cNvPr id="3" name="Shape 1"/>
          <p:cNvSpPr/>
          <p:nvPr/>
        </p:nvSpPr>
        <p:spPr>
          <a:xfrm>
            <a:off x="457200" y="960120"/>
            <a:ext cx="2606040" cy="3017520"/>
          </a:xfrm>
          <a:prstGeom prst="roundRect">
            <a:avLst>
              <a:gd name="adj" fmla="val 4211"/>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pic>
        <p:nvPicPr>
          <p:cNvPr id="4" name="Image 0" descr="nb/cell3_5.png">    </p:cNvPr>
          <p:cNvPicPr>
            <a:picLocks noChangeAspect="1"/>
          </p:cNvPicPr>
          <p:nvPr/>
        </p:nvPicPr>
        <p:blipFill>
          <a:blip r:embed="rId2"/>
          <a:stretch>
            <a:fillRect/>
          </a:stretch>
        </p:blipFill>
        <p:spPr>
          <a:xfrm>
            <a:off x="571500" y="1051560"/>
            <a:ext cx="2377440" cy="1839303"/>
          </a:xfrm>
          <a:prstGeom prst="rect">
            <a:avLst/>
          </a:prstGeom>
        </p:spPr>
      </p:pic>
      <p:sp>
        <p:nvSpPr>
          <p:cNvPr id="5" name="Text 2"/>
          <p:cNvSpPr txBox="1"/>
          <p:nvPr/>
        </p:nvSpPr>
        <p:spPr>
          <a:xfrm>
            <a:off x="621792" y="3017520"/>
            <a:ext cx="2286000" cy="868680"/>
          </a:xfrm>
          <a:prstGeom prst="rect">
            <a:avLst/>
          </a:prstGeom>
          <a:noFill/>
          <a:ln/>
        </p:spPr>
        <p:txBody>
          <a:bodyPr wrap="square" lIns="0" tIns="0" rIns="0" bIns="0" rtlCol="0" anchor="t"/>
          <a:lstStyle/>
          <a:p>
            <a:pPr indent="0" marL="0">
              <a:buNone/>
            </a:pPr>
            <a:r>
              <a:rPr lang="en-US" sz="1100" b="1" dirty="0">
                <a:solidFill>
                  <a:srgbClr val="E07A5F"/>
                </a:solidFill>
                <a:latin typeface="Calibri" pitchFamily="34" charset="0"/>
                <a:ea typeface="Calibri" pitchFamily="34" charset="-122"/>
                <a:cs typeface="Calibri" pitchFamily="34" charset="-120"/>
              </a:rPr>
              <a:t>13 duplicate-billed cases hold 66% of claimed dollars </a:t>
            </a:r>
            <a:pPr indent="0" marL="0">
              <a:buNone/>
            </a:pPr>
            <a:r>
              <a:rPr lang="en-US" sz="1100" dirty="0">
                <a:solidFill>
                  <a:srgbClr val="17262B"/>
                </a:solidFill>
                <a:latin typeface="Calibri" pitchFamily="34" charset="0"/>
                <a:ea typeface="Calibri" pitchFamily="34" charset="-122"/>
                <a:cs typeface="Calibri" pitchFamily="34" charset="-120"/>
              </a:rPr>
              <a:t>(median $29.7K vs $3.9K).</a:t>
            </a:r>
            <a:endParaRPr lang="en-US" sz="1100" dirty="0"/>
          </a:p>
        </p:txBody>
      </p:sp>
      <p:sp>
        <p:nvSpPr>
          <p:cNvPr id="6" name="Shape 3"/>
          <p:cNvSpPr/>
          <p:nvPr/>
        </p:nvSpPr>
        <p:spPr>
          <a:xfrm>
            <a:off x="3246120" y="960120"/>
            <a:ext cx="2606040" cy="3017520"/>
          </a:xfrm>
          <a:prstGeom prst="roundRect">
            <a:avLst>
              <a:gd name="adj" fmla="val 4211"/>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pic>
        <p:nvPicPr>
          <p:cNvPr id="7" name="Image 1" descr="nb/dup_rate_by_care.png">    </p:cNvPr>
          <p:cNvPicPr>
            <a:picLocks noChangeAspect="1"/>
          </p:cNvPicPr>
          <p:nvPr/>
        </p:nvPicPr>
        <p:blipFill>
          <a:blip r:embed="rId3"/>
          <a:stretch>
            <a:fillRect/>
          </a:stretch>
        </p:blipFill>
        <p:spPr>
          <a:xfrm>
            <a:off x="3360420" y="1051560"/>
            <a:ext cx="2377440" cy="1538559"/>
          </a:xfrm>
          <a:prstGeom prst="rect">
            <a:avLst/>
          </a:prstGeom>
        </p:spPr>
      </p:pic>
      <p:sp>
        <p:nvSpPr>
          <p:cNvPr id="8" name="Text 4"/>
          <p:cNvSpPr txBox="1"/>
          <p:nvPr/>
        </p:nvSpPr>
        <p:spPr>
          <a:xfrm>
            <a:off x="3410712" y="3017520"/>
            <a:ext cx="2286000" cy="868680"/>
          </a:xfrm>
          <a:prstGeom prst="rect">
            <a:avLst/>
          </a:prstGeom>
          <a:noFill/>
          <a:ln/>
        </p:spPr>
        <p:txBody>
          <a:bodyPr wrap="square" lIns="0" tIns="0" rIns="0" bIns="0" rtlCol="0" anchor="t"/>
          <a:lstStyle/>
          <a:p>
            <a:pPr indent="0" marL="0">
              <a:buNone/>
            </a:pPr>
            <a:r>
              <a:rPr lang="en-US" sz="1100" b="1" dirty="0">
                <a:solidFill>
                  <a:srgbClr val="4E5AA8"/>
                </a:solidFill>
                <a:latin typeface="Calibri" pitchFamily="34" charset="0"/>
                <a:ea typeface="Calibri" pitchFamily="34" charset="-122"/>
                <a:cs typeface="Calibri" pitchFamily="34" charset="-120"/>
              </a:rPr>
              <a:t>Duplicate billing: 45% of Home Health Aide, 0% of Assisted Living. </a:t>
            </a:r>
            <a:pPr indent="0" marL="0">
              <a:buNone/>
            </a:pPr>
            <a:r>
              <a:rPr lang="en-US" sz="1100" dirty="0">
                <a:solidFill>
                  <a:srgbClr val="17262B"/>
                </a:solidFill>
                <a:latin typeface="Calibri" pitchFamily="34" charset="0"/>
                <a:ea typeface="Calibri" pitchFamily="34" charset="-122"/>
                <a:cs typeface="Calibri" pitchFamily="34" charset="-120"/>
              </a:rPr>
              <a:t>Compare cases within their care type.</a:t>
            </a:r>
            <a:endParaRPr lang="en-US" sz="1100" dirty="0"/>
          </a:p>
        </p:txBody>
      </p:sp>
      <p:sp>
        <p:nvSpPr>
          <p:cNvPr id="9" name="Shape 5"/>
          <p:cNvSpPr/>
          <p:nvPr/>
        </p:nvSpPr>
        <p:spPr>
          <a:xfrm>
            <a:off x="6035040" y="960120"/>
            <a:ext cx="2606040" cy="3017520"/>
          </a:xfrm>
          <a:prstGeom prst="roundRect">
            <a:avLst>
              <a:gd name="adj" fmla="val 4211"/>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pic>
        <p:nvPicPr>
          <p:cNvPr id="10" name="Image 2" descr="nb/cell3_15.png">    </p:cNvPr>
          <p:cNvPicPr>
            <a:picLocks noChangeAspect="1"/>
          </p:cNvPicPr>
          <p:nvPr/>
        </p:nvPicPr>
        <p:blipFill>
          <a:blip r:embed="rId4"/>
          <a:stretch>
            <a:fillRect/>
          </a:stretch>
        </p:blipFill>
        <p:spPr>
          <a:xfrm>
            <a:off x="6149340" y="1051560"/>
            <a:ext cx="2377440" cy="1835287"/>
          </a:xfrm>
          <a:prstGeom prst="rect">
            <a:avLst/>
          </a:prstGeom>
        </p:spPr>
      </p:pic>
      <p:sp>
        <p:nvSpPr>
          <p:cNvPr id="11" name="Text 6"/>
          <p:cNvSpPr txBox="1"/>
          <p:nvPr/>
        </p:nvSpPr>
        <p:spPr>
          <a:xfrm>
            <a:off x="6199632" y="3017520"/>
            <a:ext cx="2286000" cy="868680"/>
          </a:xfrm>
          <a:prstGeom prst="rect">
            <a:avLst/>
          </a:prstGeom>
          <a:noFill/>
          <a:ln/>
        </p:spPr>
        <p:txBody>
          <a:bodyPr wrap="square" lIns="0" tIns="0" rIns="0" bIns="0" rtlCol="0" anchor="t"/>
          <a:lstStyle/>
          <a:p>
            <a:pPr indent="0" marL="0">
              <a:buNone/>
            </a:pPr>
            <a:r>
              <a:rPr lang="en-US" sz="1100" b="1" dirty="0">
                <a:solidFill>
                  <a:srgbClr val="2F5D62"/>
                </a:solidFill>
                <a:latin typeface="Calibri" pitchFamily="34" charset="0"/>
                <a:ea typeface="Calibri" pitchFamily="34" charset="-122"/>
                <a:cs typeface="Calibri" pitchFamily="34" charset="-120"/>
              </a:rPr>
              <a:t>Round-dollar billing tracks duplicate billing (r = 0.83): </a:t>
            </a:r>
            <a:pPr indent="0" marL="0">
              <a:buNone/>
            </a:pPr>
            <a:r>
              <a:rPr lang="en-US" sz="1100" dirty="0">
                <a:solidFill>
                  <a:srgbClr val="17262B"/>
                </a:solidFill>
                <a:latin typeface="Calibri" pitchFamily="34" charset="0"/>
                <a:ea typeface="Calibri" pitchFamily="34" charset="-122"/>
                <a:cs typeface="Calibri" pitchFamily="34" charset="-120"/>
              </a:rPr>
              <a:t>estimated rather than recorded billing.</a:t>
            </a:r>
            <a:endParaRPr lang="en-US" sz="1100" dirty="0"/>
          </a:p>
        </p:txBody>
      </p:sp>
      <p:sp>
        <p:nvSpPr>
          <p:cNvPr id="12" name="Shape 7"/>
          <p:cNvSpPr/>
          <p:nvPr/>
        </p:nvSpPr>
        <p:spPr>
          <a:xfrm>
            <a:off x="457200" y="4114800"/>
            <a:ext cx="8229600" cy="548640"/>
          </a:xfrm>
          <a:prstGeom prst="roundRect">
            <a:avLst>
              <a:gd name="adj" fmla="val 20000"/>
            </a:avLst>
          </a:prstGeom>
          <a:solidFill>
            <a:srgbClr val="FDF3DC"/>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3" name="Shape 8"/>
          <p:cNvSpPr/>
          <p:nvPr/>
        </p:nvSpPr>
        <p:spPr>
          <a:xfrm>
            <a:off x="594360" y="4169664"/>
            <a:ext cx="438912" cy="438912"/>
          </a:xfrm>
          <a:prstGeom prst="ellipse">
            <a:avLst/>
          </a:prstGeom>
          <a:solidFill>
            <a:srgbClr val="B7791F"/>
          </a:solidFill>
          <a:ln w="12700">
            <a:solidFill>
              <a:srgbClr val="B7791F"/>
            </a:solidFill>
            <a:prstDash val="solid"/>
          </a:ln>
        </p:spPr>
      </p:sp>
      <p:pic>
        <p:nvPicPr>
          <p:cNvPr id="14" name="Image 3" descr="preencoded.png">    </p:cNvPr>
          <p:cNvPicPr>
            <a:picLocks noChangeAspect="1"/>
          </p:cNvPicPr>
          <p:nvPr/>
        </p:nvPicPr>
        <p:blipFill>
          <a:blip r:embed="rId5"/>
          <a:stretch>
            <a:fillRect/>
          </a:stretch>
        </p:blipFill>
        <p:spPr>
          <a:xfrm>
            <a:off x="699699" y="4275003"/>
            <a:ext cx="228234" cy="228234"/>
          </a:xfrm>
          <a:prstGeom prst="rect">
            <a:avLst/>
          </a:prstGeom>
        </p:spPr>
      </p:pic>
      <p:sp>
        <p:nvSpPr>
          <p:cNvPr id="15" name="Text 9"/>
          <p:cNvSpPr txBox="1"/>
          <p:nvPr/>
        </p:nvSpPr>
        <p:spPr>
          <a:xfrm>
            <a:off x="1188720" y="4142232"/>
            <a:ext cx="7360920" cy="502920"/>
          </a:xfrm>
          <a:prstGeom prst="rect">
            <a:avLst/>
          </a:prstGeom>
          <a:noFill/>
          <a:ln/>
        </p:spPr>
        <p:txBody>
          <a:bodyPr wrap="square" lIns="0" tIns="0" rIns="0" bIns="0" rtlCol="0" anchor="ctr"/>
          <a:lstStyle/>
          <a:p>
            <a:pPr indent="0" marL="0">
              <a:buNone/>
            </a:pPr>
            <a:r>
              <a:rPr lang="en-US" sz="1200" b="1" dirty="0">
                <a:solidFill>
                  <a:srgbClr val="B7791F"/>
                </a:solidFill>
                <a:latin typeface="Calibri" pitchFamily="34" charset="0"/>
                <a:ea typeface="Calibri" pitchFamily="34" charset="-122"/>
                <a:cs typeface="Calibri" pitchFamily="34" charset="-120"/>
              </a:rPr>
              <a:t>Data quality: </a:t>
            </a:r>
            <a:pPr indent="0" marL="0">
              <a:buNone/>
            </a:pPr>
            <a:r>
              <a:rPr lang="en-US" sz="1200" dirty="0">
                <a:solidFill>
                  <a:srgbClr val="17262B"/>
                </a:solidFill>
                <a:latin typeface="Calibri" pitchFamily="34" charset="0"/>
                <a:ea typeface="Calibri" pitchFamily="34" charset="-122"/>
                <a:cs typeface="Calibri" pitchFamily="34" charset="-120"/>
              </a:rPr>
              <a:t>claim number LTC-2034786 appears on C1001 and C1031. The tool routes this to Data review and never scores it as fraud.</a:t>
            </a:r>
            <a:endParaRPr lang="en-US" sz="1200" dirty="0"/>
          </a:p>
        </p:txBody>
      </p:sp>
    </p:spTree>
  </p:cSld>
  <p:clrMapOvr>
    <a:masterClrMapping/>
  </p:clrMapOvr>
  <p:transition spd="med">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The scoring model: thresholds learned from the queue</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No hand-set threshold per column: every numeric signal is scored against the loaded queue's own distribution</a:t>
            </a:r>
            <a:endParaRPr lang="en-US" sz="1300" dirty="0"/>
          </a:p>
        </p:txBody>
      </p:sp>
      <p:sp>
        <p:nvSpPr>
          <p:cNvPr id="4" name="Shape 2"/>
          <p:cNvSpPr/>
          <p:nvPr/>
        </p:nvSpPr>
        <p:spPr>
          <a:xfrm>
            <a:off x="457200" y="1234440"/>
            <a:ext cx="3931920" cy="1600200"/>
          </a:xfrm>
          <a:prstGeom prst="roundRect">
            <a:avLst>
              <a:gd name="adj" fmla="val 6857"/>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5" name="Text 3"/>
          <p:cNvSpPr txBox="1"/>
          <p:nvPr/>
        </p:nvSpPr>
        <p:spPr>
          <a:xfrm>
            <a:off x="640080" y="1344168"/>
            <a:ext cx="1234440" cy="384048"/>
          </a:xfrm>
          <a:prstGeom prst="rect">
            <a:avLst/>
          </a:prstGeom>
          <a:noFill/>
          <a:ln/>
        </p:spPr>
        <p:txBody>
          <a:bodyPr wrap="square" lIns="0" tIns="0" rIns="0" bIns="0" rtlCol="0" anchor="ctr"/>
          <a:lstStyle/>
          <a:p>
            <a:pPr indent="0" marL="0">
              <a:buNone/>
            </a:pPr>
            <a:r>
              <a:rPr lang="en-US" sz="1100" b="1" dirty="0">
                <a:solidFill>
                  <a:srgbClr val="2F5D62"/>
                </a:solidFill>
                <a:latin typeface="Calibri" pitchFamily="34" charset="0"/>
                <a:ea typeface="Calibri" pitchFamily="34" charset="-122"/>
                <a:cs typeface="Calibri" pitchFamily="34" charset="-120"/>
              </a:rPr>
              <a:t>Robust z-score</a:t>
            </a:r>
            <a:endParaRPr lang="en-US" sz="1100" dirty="0"/>
          </a:p>
        </p:txBody>
      </p:sp>
      <p:sp>
        <p:nvSpPr>
          <p:cNvPr id="6" name="Text 4"/>
          <p:cNvSpPr txBox="1"/>
          <p:nvPr/>
        </p:nvSpPr>
        <p:spPr>
          <a:xfrm>
            <a:off x="1874520" y="1344168"/>
            <a:ext cx="2468880" cy="384048"/>
          </a:xfrm>
          <a:prstGeom prst="rect">
            <a:avLst/>
          </a:prstGeom>
          <a:noFill/>
          <a:ln/>
        </p:spPr>
        <p:txBody>
          <a:bodyPr wrap="square" lIns="0" tIns="0" rIns="0" bIns="0" rtlCol="0" anchor="ctr"/>
          <a:lstStyle/>
          <a:p>
            <a:pPr indent="0" marL="0">
              <a:buNone/>
            </a:pPr>
            <a:r>
              <a:rPr lang="en-US" sz="1100" i="1" dirty="0">
                <a:solidFill>
                  <a:srgbClr val="17262B"/>
                </a:solidFill>
                <a:latin typeface="Cambria" pitchFamily="34" charset="0"/>
                <a:ea typeface="Cambria" pitchFamily="34" charset="-122"/>
                <a:cs typeface="Cambria" pitchFamily="34" charset="-120"/>
              </a:rPr>
              <a:t>z = (value − median) ÷ (1.4826 × MAD)</a:t>
            </a:r>
            <a:endParaRPr lang="en-US" sz="1100" dirty="0"/>
          </a:p>
        </p:txBody>
      </p:sp>
      <p:sp>
        <p:nvSpPr>
          <p:cNvPr id="7" name="Text 5"/>
          <p:cNvSpPr txBox="1"/>
          <p:nvPr/>
        </p:nvSpPr>
        <p:spPr>
          <a:xfrm>
            <a:off x="640080" y="1819656"/>
            <a:ext cx="1234440" cy="384048"/>
          </a:xfrm>
          <a:prstGeom prst="rect">
            <a:avLst/>
          </a:prstGeom>
          <a:noFill/>
          <a:ln/>
        </p:spPr>
        <p:txBody>
          <a:bodyPr wrap="square" lIns="0" tIns="0" rIns="0" bIns="0" rtlCol="0" anchor="ctr"/>
          <a:lstStyle/>
          <a:p>
            <a:pPr indent="0" marL="0">
              <a:buNone/>
            </a:pPr>
            <a:r>
              <a:rPr lang="en-US" sz="1100" b="1" dirty="0">
                <a:solidFill>
                  <a:srgbClr val="4E5AA8"/>
                </a:solidFill>
                <a:latin typeface="Calibri" pitchFamily="34" charset="0"/>
                <a:ea typeface="Calibri" pitchFamily="34" charset="-122"/>
                <a:cs typeface="Calibri" pitchFamily="34" charset="-120"/>
              </a:rPr>
              <a:t>Points ramp</a:t>
            </a:r>
            <a:endParaRPr lang="en-US" sz="1100" dirty="0"/>
          </a:p>
        </p:txBody>
      </p:sp>
      <p:sp>
        <p:nvSpPr>
          <p:cNvPr id="8" name="Text 6"/>
          <p:cNvSpPr txBox="1"/>
          <p:nvPr/>
        </p:nvSpPr>
        <p:spPr>
          <a:xfrm>
            <a:off x="1874520" y="1819656"/>
            <a:ext cx="2468880" cy="384048"/>
          </a:xfrm>
          <a:prstGeom prst="rect">
            <a:avLst/>
          </a:prstGeom>
          <a:noFill/>
          <a:ln/>
        </p:spPr>
        <p:txBody>
          <a:bodyPr wrap="square" lIns="0" tIns="0" rIns="0" bIns="0" rtlCol="0" anchor="ctr"/>
          <a:lstStyle/>
          <a:p>
            <a:pPr indent="0" marL="0">
              <a:buNone/>
            </a:pPr>
            <a:r>
              <a:rPr lang="en-US" sz="1100" i="1" dirty="0">
                <a:solidFill>
                  <a:srgbClr val="17262B"/>
                </a:solidFill>
                <a:latin typeface="Cambria" pitchFamily="34" charset="0"/>
                <a:ea typeface="Cambria" pitchFamily="34" charset="-122"/>
                <a:cs typeface="Cambria" pitchFamily="34" charset="-120"/>
              </a:rPr>
              <a:t>points = weight × clip((z − 0.75) ÷ 2.25, 0, 1)</a:t>
            </a:r>
            <a:endParaRPr lang="en-US" sz="1100" dirty="0"/>
          </a:p>
        </p:txBody>
      </p:sp>
      <p:sp>
        <p:nvSpPr>
          <p:cNvPr id="9" name="Text 7"/>
          <p:cNvSpPr txBox="1"/>
          <p:nvPr/>
        </p:nvSpPr>
        <p:spPr>
          <a:xfrm>
            <a:off x="640080" y="2295144"/>
            <a:ext cx="1234440" cy="384048"/>
          </a:xfrm>
          <a:prstGeom prst="rect">
            <a:avLst/>
          </a:prstGeom>
          <a:noFill/>
          <a:ln/>
        </p:spPr>
        <p:txBody>
          <a:bodyPr wrap="square" lIns="0" tIns="0" rIns="0" bIns="0" rtlCol="0" anchor="ctr"/>
          <a:lstStyle/>
          <a:p>
            <a:pPr indent="0" marL="0">
              <a:buNone/>
            </a:pPr>
            <a:r>
              <a:rPr lang="en-US" sz="1100" b="1" dirty="0">
                <a:solidFill>
                  <a:srgbClr val="E07A5F"/>
                </a:solidFill>
                <a:latin typeface="Calibri" pitchFamily="34" charset="0"/>
                <a:ea typeface="Calibri" pitchFamily="34" charset="-122"/>
                <a:cs typeface="Calibri" pitchFamily="34" charset="-120"/>
              </a:rPr>
              <a:t>Case score</a:t>
            </a:r>
            <a:endParaRPr lang="en-US" sz="1100" dirty="0"/>
          </a:p>
        </p:txBody>
      </p:sp>
      <p:sp>
        <p:nvSpPr>
          <p:cNvPr id="10" name="Text 8"/>
          <p:cNvSpPr txBox="1"/>
          <p:nvPr/>
        </p:nvSpPr>
        <p:spPr>
          <a:xfrm>
            <a:off x="1874520" y="2295144"/>
            <a:ext cx="2468880" cy="384048"/>
          </a:xfrm>
          <a:prstGeom prst="rect">
            <a:avLst/>
          </a:prstGeom>
          <a:noFill/>
          <a:ln/>
        </p:spPr>
        <p:txBody>
          <a:bodyPr wrap="square" lIns="0" tIns="0" rIns="0" bIns="0" rtlCol="0" anchor="ctr"/>
          <a:lstStyle/>
          <a:p>
            <a:pPr indent="0" marL="0">
              <a:buNone/>
            </a:pPr>
            <a:r>
              <a:rPr lang="en-US" sz="1100" i="1" dirty="0">
                <a:solidFill>
                  <a:srgbClr val="17262B"/>
                </a:solidFill>
                <a:latin typeface="Cambria" pitchFamily="34" charset="0"/>
                <a:ea typeface="Cambria" pitchFamily="34" charset="-122"/>
                <a:cs typeface="Cambria" pitchFamily="34" charset="-120"/>
              </a:rPr>
              <a:t>Σ min(cap, group points) + min(14, bonus)</a:t>
            </a:r>
            <a:endParaRPr lang="en-US" sz="1100" dirty="0"/>
          </a:p>
        </p:txBody>
      </p:sp>
      <p:sp>
        <p:nvSpPr>
          <p:cNvPr id="11" name="Shape 9"/>
          <p:cNvSpPr/>
          <p:nvPr/>
        </p:nvSpPr>
        <p:spPr>
          <a:xfrm>
            <a:off x="457200" y="2971800"/>
            <a:ext cx="3931920" cy="1737360"/>
          </a:xfrm>
          <a:prstGeom prst="roundRect">
            <a:avLst>
              <a:gd name="adj" fmla="val 6316"/>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graphicFrame>
        <p:nvGraphicFramePr>
          <p:cNvPr id="12" name="Chart 0" descr=""/>
          <p:cNvGraphicFramePr/>
          <p:nvPr/>
        </p:nvGraphicFramePr>
        <p:xfrm>
          <a:off x="548640" y="3017520"/>
          <a:ext cx="3749040" cy="1645920"/>
        </p:xfrm>
        <a:graphic xmlns:a="http://schemas.openxmlformats.org/drawingml/2006/main">
          <a:graphicData uri="http://schemas.openxmlformats.org/drawingml/2006/chart">
            <c:chart xmlns:c="http://schemas.openxmlformats.org/drawingml/2006/chart" r:id="rId2"/>
          </a:graphicData>
        </a:graphic>
      </p:graphicFrame>
      <p:sp>
        <p:nvSpPr>
          <p:cNvPr id="13" name="Text 10"/>
          <p:cNvSpPr txBox="1"/>
          <p:nvPr/>
        </p:nvSpPr>
        <p:spPr>
          <a:xfrm>
            <a:off x="4663440" y="1234440"/>
            <a:ext cx="4023360" cy="274320"/>
          </a:xfrm>
          <a:prstGeom prst="rect">
            <a:avLst/>
          </a:prstGeom>
          <a:noFill/>
          <a:ln/>
        </p:spPr>
        <p:txBody>
          <a:bodyPr wrap="square" lIns="0" tIns="0" rIns="0" bIns="0" rtlCol="0" anchor="ctr"/>
          <a:lstStyle/>
          <a:p>
            <a:pPr indent="0" marL="0">
              <a:buNone/>
            </a:pPr>
            <a:r>
              <a:rPr lang="en-US" sz="1250" b="1" dirty="0">
                <a:solidFill>
                  <a:srgbClr val="17262B"/>
                </a:solidFill>
                <a:latin typeface="Calibri" pitchFamily="34" charset="0"/>
                <a:ea typeface="Calibri" pitchFamily="34" charset="-122"/>
                <a:cs typeface="Calibri" pitchFamily="34" charset="-120"/>
              </a:rPr>
              <a:t>Points thresholds the data produced (supplied queue)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63440" y="1572768"/>
          <a:ext cx="4023360" cy="914400"/>
        </p:xfrm>
        <a:graphic>
          <a:graphicData uri="http://schemas.openxmlformats.org/drawingml/2006/table">
            <a:tbl>
              <a:tblPr/>
              <a:tblGrid>
                <a:gridCol w="1463040"/>
                <a:gridCol w="685800"/>
                <a:gridCol w="685800"/>
                <a:gridCol w="685800"/>
                <a:gridCol w="50292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Signal</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Median</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Start</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Max</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r>
              <a:tr h="29260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Visits per week</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7.2</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b="1" dirty="0">
                          <a:solidFill>
                            <a:srgbClr val="17262B"/>
                          </a:solidFill>
                          <a:latin typeface="Calibri" pitchFamily="34" charset="0"/>
                          <a:ea typeface="Calibri" pitchFamily="34" charset="-122"/>
                          <a:cs typeface="Calibri" pitchFamily="34" charset="-120"/>
                        </a:rPr>
                        <a:t>13.9</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Distance</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22 mi</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37.6 mi</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b="1" dirty="0">
                          <a:solidFill>
                            <a:srgbClr val="17262B"/>
                          </a:solidFill>
                          <a:latin typeface="Calibri" pitchFamily="34" charset="0"/>
                          <a:ea typeface="Calibri" pitchFamily="34" charset="-122"/>
                          <a:cs typeface="Calibri" pitchFamily="34" charset="-120"/>
                        </a:rPr>
                        <a:t>84.3 mi</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r>
              <a:tr h="29260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Prior claims (12 mo)</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3.1</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b="1" dirty="0">
                          <a:solidFill>
                            <a:srgbClr val="17262B"/>
                          </a:solidFill>
                          <a:latin typeface="Calibri" pitchFamily="34" charset="0"/>
                          <a:ea typeface="Calibri" pitchFamily="34" charset="-122"/>
                          <a:cs typeface="Calibri" pitchFamily="34" charset="-120"/>
                        </a:rPr>
                        <a:t>6.5</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Amount vs peer</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b="1" dirty="0">
                          <a:solidFill>
                            <a:srgbClr val="17262B"/>
                          </a:solidFill>
                          <a:latin typeface="Calibri" pitchFamily="34" charset="0"/>
                          <a:ea typeface="Calibri" pitchFamily="34" charset="-122"/>
                          <a:cs typeface="Calibri" pitchFamily="34" charset="-120"/>
                        </a:rPr>
                        <a:t>+72%</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r>
              <a:tr h="29260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Weekend billing</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b="1" dirty="0">
                          <a:solidFill>
                            <a:srgbClr val="17262B"/>
                          </a:solidFill>
                          <a:latin typeface="Calibri" pitchFamily="34" charset="0"/>
                          <a:ea typeface="Calibri" pitchFamily="34" charset="-122"/>
                          <a:cs typeface="Calibri" pitchFamily="34" charset="-120"/>
                        </a:rPr>
                        <a:t>54%</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Round-dollar billing</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34%</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b="1" dirty="0">
                          <a:solidFill>
                            <a:srgbClr val="17262B"/>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r>
            </a:tbl>
          </a:graphicData>
        </a:graphic>
      </p:graphicFrame>
      <p:sp>
        <p:nvSpPr>
          <p:cNvPr id="15" name="Text 11"/>
          <p:cNvSpPr txBox="1"/>
          <p:nvPr/>
        </p:nvSpPr>
        <p:spPr>
          <a:xfrm>
            <a:off x="4663440" y="3749040"/>
            <a:ext cx="4023360" cy="960120"/>
          </a:xfrm>
          <a:prstGeom prst="rect">
            <a:avLst/>
          </a:prstGeom>
          <a:noFill/>
          <a:ln/>
        </p:spPr>
        <p:txBody>
          <a:bodyPr wrap="square" lIns="0" tIns="0" rIns="0" bIns="0" rtlCol="0" anchor="t"/>
          <a:lstStyle/>
          <a:p>
            <a:pPr indent="0" marL="0">
              <a:spcAft>
                <a:spcPts val="300"/>
              </a:spcAft>
              <a:buNone/>
            </a:pPr>
            <a:r>
              <a:rPr lang="en-US" sz="1050" b="1" dirty="0">
                <a:solidFill>
                  <a:srgbClr val="4E5AA8"/>
                </a:solidFill>
                <a:latin typeface="Calibri" pitchFamily="34" charset="0"/>
                <a:ea typeface="Calibri" pitchFamily="34" charset="-122"/>
                <a:cs typeface="Calibri" pitchFamily="34" charset="-120"/>
              </a:rPr>
              <a:t>Flags score fixed points: </a:t>
            </a:r>
            <a:pPr indent="0" marL="0">
              <a:spcAft>
                <a:spcPts val="300"/>
              </a:spcAft>
              <a:buNone/>
            </a:pPr>
            <a:r>
              <a:rPr lang="en-US" sz="1050" dirty="0">
                <a:solidFill>
                  <a:srgbClr val="17262B"/>
                </a:solidFill>
                <a:latin typeface="Calibri" pitchFamily="34" charset="0"/>
                <a:ea typeface="Calibri" pitchFamily="34" charset="-122"/>
                <a:cs typeface="Calibri" pitchFamily="34" charset="-120"/>
              </a:rPr>
              <a:t>duplicate billing 20, service overlap 18, shared contact 14, policy change 6.</a:t>
            </a:r>
            <a:endParaRPr lang="en-US" sz="1050" dirty="0"/>
          </a:p>
          <a:p>
            <a:pPr indent="0" marL="0">
              <a:spcAft>
                <a:spcPts val="300"/>
              </a:spcAft>
              <a:buNone/>
            </a:pPr>
            <a:r>
              <a:rPr lang="en-US" sz="1050" b="1" dirty="0">
                <a:solidFill>
                  <a:srgbClr val="4E5AA8"/>
                </a:solidFill>
                <a:latin typeface="Calibri" pitchFamily="34" charset="0"/>
                <a:ea typeface="Calibri" pitchFamily="34" charset="-122"/>
                <a:cs typeface="Calibri" pitchFamily="34" charset="-120"/>
              </a:rPr>
              <a:t>Recomputed on every import: </a:t>
            </a:r>
            <a:pPr indent="0" marL="0">
              <a:spcAft>
                <a:spcPts val="300"/>
              </a:spcAft>
              <a:buNone/>
            </a:pPr>
            <a:r>
              <a:rPr lang="en-US" sz="1050" dirty="0">
                <a:solidFill>
                  <a:srgbClr val="17262B"/>
                </a:solidFill>
                <a:latin typeface="Calibri" pitchFamily="34" charset="0"/>
                <a:ea typeface="Calibri" pitchFamily="34" charset="-122"/>
                <a:cs typeface="Calibri" pitchFamily="34" charset="-120"/>
              </a:rPr>
              <a:t>a different queue produces different thresholds. MAD (median absolute deviation) ignores outliers.</a:t>
            </a:r>
            <a:endParaRPr lang="en-US" sz="10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Caps, levels and confidence: a worked example</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Why C1023 is high priority, and how sure the model is</a:t>
            </a:r>
            <a:endParaRPr lang="en-US" sz="1300" dirty="0"/>
          </a:p>
        </p:txBody>
      </p:sp>
      <p:sp>
        <p:nvSpPr>
          <p:cNvPr id="4" name="Shape 2"/>
          <p:cNvSpPr/>
          <p:nvPr/>
        </p:nvSpPr>
        <p:spPr>
          <a:xfrm>
            <a:off x="457200" y="1280160"/>
            <a:ext cx="3977640" cy="777240"/>
          </a:xfrm>
          <a:prstGeom prst="roundRect">
            <a:avLst>
              <a:gd name="adj" fmla="val 14118"/>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5" name="Shape 3"/>
          <p:cNvSpPr/>
          <p:nvPr/>
        </p:nvSpPr>
        <p:spPr>
          <a:xfrm>
            <a:off x="594360" y="1417320"/>
            <a:ext cx="384048" cy="384048"/>
          </a:xfrm>
          <a:prstGeom prst="ellipse">
            <a:avLst/>
          </a:prstGeom>
          <a:solidFill>
            <a:srgbClr val="2F5D62"/>
          </a:solidFill>
          <a:ln w="12700">
            <a:solidFill>
              <a:srgbClr val="2F5D62"/>
            </a:solidFill>
            <a:prstDash val="solid"/>
          </a:ln>
        </p:spPr>
      </p:sp>
      <p:pic>
        <p:nvPicPr>
          <p:cNvPr id="6" name="Image 0" descr="preencoded.png">    </p:cNvPr>
          <p:cNvPicPr>
            <a:picLocks noChangeAspect="1"/>
          </p:cNvPicPr>
          <p:nvPr/>
        </p:nvPicPr>
        <p:blipFill>
          <a:blip r:embed="rId2"/>
          <a:stretch>
            <a:fillRect/>
          </a:stretch>
        </p:blipFill>
        <p:spPr>
          <a:xfrm>
            <a:off x="686532" y="1509492"/>
            <a:ext cx="199705" cy="199705"/>
          </a:xfrm>
          <a:prstGeom prst="rect">
            <a:avLst/>
          </a:prstGeom>
        </p:spPr>
      </p:pic>
      <p:sp>
        <p:nvSpPr>
          <p:cNvPr id="7" name="Text 4"/>
          <p:cNvSpPr txBox="1"/>
          <p:nvPr/>
        </p:nvSpPr>
        <p:spPr>
          <a:xfrm>
            <a:off x="1097280" y="1353312"/>
            <a:ext cx="3200400" cy="274320"/>
          </a:xfrm>
          <a:prstGeom prst="rect">
            <a:avLst/>
          </a:prstGeom>
          <a:noFill/>
          <a:ln/>
        </p:spPr>
        <p:txBody>
          <a:bodyPr wrap="square" lIns="0" tIns="0" rIns="0" bIns="0" rtlCol="0" anchor="ctr"/>
          <a:lstStyle/>
          <a:p>
            <a:pPr indent="0" marL="0">
              <a:buNone/>
            </a:pPr>
            <a:r>
              <a:rPr lang="en-US" sz="1250" b="1" dirty="0">
                <a:solidFill>
                  <a:srgbClr val="17262B"/>
                </a:solidFill>
                <a:latin typeface="Calibri" pitchFamily="34" charset="0"/>
                <a:ea typeface="Calibri" pitchFamily="34" charset="-122"/>
                <a:cs typeface="Calibri" pitchFamily="34" charset="-120"/>
              </a:rPr>
              <a:t>Group caps (sum to 100)</a:t>
            </a:r>
            <a:endParaRPr lang="en-US" sz="1250" dirty="0"/>
          </a:p>
        </p:txBody>
      </p:sp>
      <p:sp>
        <p:nvSpPr>
          <p:cNvPr id="8" name="Text 5"/>
          <p:cNvSpPr txBox="1"/>
          <p:nvPr/>
        </p:nvSpPr>
        <p:spPr>
          <a:xfrm>
            <a:off x="1097280" y="1627632"/>
            <a:ext cx="3246120" cy="365760"/>
          </a:xfrm>
          <a:prstGeom prst="rect">
            <a:avLst/>
          </a:prstGeom>
          <a:noFill/>
          <a:ln/>
        </p:spPr>
        <p:txBody>
          <a:bodyPr wrap="square" lIns="0" tIns="0" rIns="0" bIns="0" rtlCol="0" anchor="t"/>
          <a:lstStyle/>
          <a:p>
            <a:pPr indent="0" marL="0">
              <a:buNone/>
            </a:pPr>
            <a:r>
              <a:rPr lang="en-US" sz="1000" dirty="0">
                <a:solidFill>
                  <a:srgbClr val="5E7075"/>
                </a:solidFill>
                <a:latin typeface="Calibri" pitchFamily="34" charset="0"/>
                <a:ea typeface="Calibri" pitchFamily="34" charset="-122"/>
                <a:cs typeface="Calibri" pitchFamily="34" charset="-120"/>
              </a:rPr>
              <a:t>Billing integrity 30 · Relationship 16 · Utilization 20 · Billing pattern 20 · Combinations 14. Correlated signals cannot stack.</a:t>
            </a:r>
            <a:endParaRPr lang="en-US" sz="1000" dirty="0"/>
          </a:p>
        </p:txBody>
      </p:sp>
      <p:sp>
        <p:nvSpPr>
          <p:cNvPr id="9" name="Shape 6"/>
          <p:cNvSpPr/>
          <p:nvPr/>
        </p:nvSpPr>
        <p:spPr>
          <a:xfrm>
            <a:off x="457200" y="2148840"/>
            <a:ext cx="3977640" cy="960120"/>
          </a:xfrm>
          <a:prstGeom prst="roundRect">
            <a:avLst>
              <a:gd name="adj" fmla="val 11429"/>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0" name="Shape 7"/>
          <p:cNvSpPr/>
          <p:nvPr/>
        </p:nvSpPr>
        <p:spPr>
          <a:xfrm>
            <a:off x="594360" y="2286000"/>
            <a:ext cx="384048" cy="384048"/>
          </a:xfrm>
          <a:prstGeom prst="ellipse">
            <a:avLst/>
          </a:prstGeom>
          <a:solidFill>
            <a:srgbClr val="A8322D"/>
          </a:solidFill>
          <a:ln w="12700">
            <a:solidFill>
              <a:srgbClr val="A8322D"/>
            </a:solidFill>
            <a:prstDash val="solid"/>
          </a:ln>
        </p:spPr>
      </p:sp>
      <p:pic>
        <p:nvPicPr>
          <p:cNvPr id="11" name="Image 1" descr="preencoded.png">    </p:cNvPr>
          <p:cNvPicPr>
            <a:picLocks noChangeAspect="1"/>
          </p:cNvPicPr>
          <p:nvPr/>
        </p:nvPicPr>
        <p:blipFill>
          <a:blip r:embed="rId3"/>
          <a:stretch>
            <a:fillRect/>
          </a:stretch>
        </p:blipFill>
        <p:spPr>
          <a:xfrm>
            <a:off x="686532" y="2378172"/>
            <a:ext cx="199705" cy="199705"/>
          </a:xfrm>
          <a:prstGeom prst="rect">
            <a:avLst/>
          </a:prstGeom>
        </p:spPr>
      </p:pic>
      <p:sp>
        <p:nvSpPr>
          <p:cNvPr id="12" name="Text 8"/>
          <p:cNvSpPr txBox="1"/>
          <p:nvPr/>
        </p:nvSpPr>
        <p:spPr>
          <a:xfrm>
            <a:off x="1097280" y="2221992"/>
            <a:ext cx="3200400" cy="274320"/>
          </a:xfrm>
          <a:prstGeom prst="rect">
            <a:avLst/>
          </a:prstGeom>
          <a:noFill/>
          <a:ln/>
        </p:spPr>
        <p:txBody>
          <a:bodyPr wrap="square" lIns="0" tIns="0" rIns="0" bIns="0" rtlCol="0" anchor="ctr"/>
          <a:lstStyle/>
          <a:p>
            <a:pPr indent="0" marL="0">
              <a:buNone/>
            </a:pPr>
            <a:r>
              <a:rPr lang="en-US" sz="1250" b="1" dirty="0">
                <a:solidFill>
                  <a:srgbClr val="17262B"/>
                </a:solidFill>
                <a:latin typeface="Calibri" pitchFamily="34" charset="0"/>
                <a:ea typeface="Calibri" pitchFamily="34" charset="-122"/>
                <a:cs typeface="Calibri" pitchFamily="34" charset="-120"/>
              </a:rPr>
              <a:t>Priority levels</a:t>
            </a:r>
            <a:endParaRPr lang="en-US" sz="1250" dirty="0"/>
          </a:p>
        </p:txBody>
      </p:sp>
      <p:sp>
        <p:nvSpPr>
          <p:cNvPr id="13" name="Text 9"/>
          <p:cNvSpPr txBox="1"/>
          <p:nvPr/>
        </p:nvSpPr>
        <p:spPr>
          <a:xfrm>
            <a:off x="1097280" y="2496312"/>
            <a:ext cx="3246120" cy="548640"/>
          </a:xfrm>
          <a:prstGeom prst="rect">
            <a:avLst/>
          </a:prstGeom>
          <a:noFill/>
          <a:ln/>
        </p:spPr>
        <p:txBody>
          <a:bodyPr wrap="square" lIns="0" tIns="0" rIns="0" bIns="0" rtlCol="0" anchor="t"/>
          <a:lstStyle/>
          <a:p>
            <a:pPr indent="0" marL="0">
              <a:buNone/>
            </a:pPr>
            <a:r>
              <a:rPr lang="en-US" sz="1000" dirty="0">
                <a:solidFill>
                  <a:srgbClr val="5E7075"/>
                </a:solidFill>
                <a:latin typeface="Calibri" pitchFamily="34" charset="0"/>
                <a:ea typeface="Calibri" pitchFamily="34" charset="-122"/>
                <a:cs typeface="Calibri" pitchFamily="34" charset="-120"/>
              </a:rPr>
              <a:t>High priority at 60+ or a strong indicator (duplicate billing with overlap). Needs attention at 20+. Data review when the record itself has an issue.</a:t>
            </a:r>
            <a:endParaRPr lang="en-US" sz="1000" dirty="0"/>
          </a:p>
        </p:txBody>
      </p:sp>
      <p:sp>
        <p:nvSpPr>
          <p:cNvPr id="14" name="Shape 10"/>
          <p:cNvSpPr/>
          <p:nvPr/>
        </p:nvSpPr>
        <p:spPr>
          <a:xfrm>
            <a:off x="457200" y="3200400"/>
            <a:ext cx="3977640" cy="1508760"/>
          </a:xfrm>
          <a:prstGeom prst="roundRect">
            <a:avLst>
              <a:gd name="adj" fmla="val 7273"/>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5" name="Shape 11"/>
          <p:cNvSpPr/>
          <p:nvPr/>
        </p:nvSpPr>
        <p:spPr>
          <a:xfrm>
            <a:off x="594360" y="3337560"/>
            <a:ext cx="384048" cy="384048"/>
          </a:xfrm>
          <a:prstGeom prst="ellipse">
            <a:avLst/>
          </a:prstGeom>
          <a:solidFill>
            <a:srgbClr val="4E5AA8"/>
          </a:solidFill>
          <a:ln w="12700">
            <a:solidFill>
              <a:srgbClr val="4E5AA8"/>
            </a:solidFill>
            <a:prstDash val="solid"/>
          </a:ln>
        </p:spPr>
      </p:sp>
      <p:pic>
        <p:nvPicPr>
          <p:cNvPr id="16" name="Image 2" descr="preencoded.png">    </p:cNvPr>
          <p:cNvPicPr>
            <a:picLocks noChangeAspect="1"/>
          </p:cNvPicPr>
          <p:nvPr/>
        </p:nvPicPr>
        <p:blipFill>
          <a:blip r:embed="rId4"/>
          <a:stretch>
            <a:fillRect/>
          </a:stretch>
        </p:blipFill>
        <p:spPr>
          <a:xfrm>
            <a:off x="686532" y="3429732"/>
            <a:ext cx="199705" cy="199705"/>
          </a:xfrm>
          <a:prstGeom prst="rect">
            <a:avLst/>
          </a:prstGeom>
        </p:spPr>
      </p:pic>
      <p:sp>
        <p:nvSpPr>
          <p:cNvPr id="17" name="Text 12"/>
          <p:cNvSpPr txBox="1"/>
          <p:nvPr/>
        </p:nvSpPr>
        <p:spPr>
          <a:xfrm>
            <a:off x="1097280" y="3273552"/>
            <a:ext cx="3200400" cy="274320"/>
          </a:xfrm>
          <a:prstGeom prst="rect">
            <a:avLst/>
          </a:prstGeom>
          <a:noFill/>
          <a:ln/>
        </p:spPr>
        <p:txBody>
          <a:bodyPr wrap="square" lIns="0" tIns="0" rIns="0" bIns="0" rtlCol="0" anchor="ctr"/>
          <a:lstStyle/>
          <a:p>
            <a:pPr indent="0" marL="0">
              <a:buNone/>
            </a:pPr>
            <a:r>
              <a:rPr lang="en-US" sz="1250" b="1" dirty="0">
                <a:solidFill>
                  <a:srgbClr val="17262B"/>
                </a:solidFill>
                <a:latin typeface="Calibri" pitchFamily="34" charset="0"/>
                <a:ea typeface="Calibri" pitchFamily="34" charset="-122"/>
                <a:cs typeface="Calibri" pitchFamily="34" charset="-120"/>
              </a:rPr>
              <a:t>Confidence, separate from priority</a:t>
            </a:r>
            <a:endParaRPr lang="en-US" sz="1250" dirty="0"/>
          </a:p>
        </p:txBody>
      </p:sp>
      <p:sp>
        <p:nvSpPr>
          <p:cNvPr id="18" name="Text 13"/>
          <p:cNvSpPr txBox="1"/>
          <p:nvPr/>
        </p:nvSpPr>
        <p:spPr>
          <a:xfrm>
            <a:off x="1097280" y="3547872"/>
            <a:ext cx="3246120" cy="1097280"/>
          </a:xfrm>
          <a:prstGeom prst="rect">
            <a:avLst/>
          </a:prstGeom>
          <a:noFill/>
          <a:ln/>
        </p:spPr>
        <p:txBody>
          <a:bodyPr wrap="square" lIns="0" tIns="0" rIns="0" bIns="0" rtlCol="0" anchor="t"/>
          <a:lstStyle/>
          <a:p>
            <a:pPr indent="0" marL="0">
              <a:buNone/>
            </a:pPr>
            <a:r>
              <a:rPr lang="en-US" sz="1000" dirty="0">
                <a:solidFill>
                  <a:srgbClr val="5E7075"/>
                </a:solidFill>
                <a:latin typeface="Calibri" pitchFamily="34" charset="0"/>
                <a:ea typeface="Calibri" pitchFamily="34" charset="-122"/>
                <a:cs typeface="Calibri" pitchFamily="34" charset="-120"/>
              </a:rPr>
              <a:t>Starts at 1.0: −0.30 data-quality issue, −0.20 missing values, −0.15 under 8 peers, −0.25 rules/anomaly disagreement, −0.20 if the level flips in over 15% of 200 runs with weights ±20%. High ≥ 0.85. Queue: 47 High, 3 Medium.</a:t>
            </a:r>
            <a:endParaRPr lang="en-US" sz="1000" dirty="0"/>
          </a:p>
        </p:txBody>
      </p:sp>
      <p:sp>
        <p:nvSpPr>
          <p:cNvPr id="19" name="Shape 14"/>
          <p:cNvSpPr/>
          <p:nvPr/>
        </p:nvSpPr>
        <p:spPr>
          <a:xfrm>
            <a:off x="4663440" y="1234440"/>
            <a:ext cx="4023360" cy="3474720"/>
          </a:xfrm>
          <a:prstGeom prst="roundRect">
            <a:avLst>
              <a:gd name="adj" fmla="val 3158"/>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graphicFrame>
        <p:nvGraphicFramePr>
          <p:cNvPr id="20" name="Chart 0" descr=""/>
          <p:cNvGraphicFramePr/>
          <p:nvPr/>
        </p:nvGraphicFramePr>
        <p:xfrm>
          <a:off x="4800600" y="1325880"/>
          <a:ext cx="3749040" cy="2834640"/>
        </p:xfrm>
        <a:graphic xmlns:a="http://schemas.openxmlformats.org/drawingml/2006/main">
          <a:graphicData uri="http://schemas.openxmlformats.org/drawingml/2006/chart">
            <c:chart xmlns:c="http://schemas.openxmlformats.org/drawingml/2006/chart" r:id="rId5"/>
          </a:graphicData>
        </a:graphic>
      </p:graphicFrame>
      <p:sp>
        <p:nvSpPr>
          <p:cNvPr id="21" name="Text 15"/>
          <p:cNvSpPr txBox="1"/>
          <p:nvPr/>
        </p:nvSpPr>
        <p:spPr>
          <a:xfrm>
            <a:off x="4846320" y="4160520"/>
            <a:ext cx="3703320" cy="457200"/>
          </a:xfrm>
          <a:prstGeom prst="rect">
            <a:avLst/>
          </a:prstGeom>
          <a:noFill/>
          <a:ln/>
        </p:spPr>
        <p:txBody>
          <a:bodyPr wrap="square" lIns="0" tIns="0" rIns="0" bIns="0" rtlCol="0" anchor="t"/>
          <a:lstStyle/>
          <a:p>
            <a:pPr indent="0" marL="0">
              <a:buNone/>
            </a:pPr>
            <a:r>
              <a:rPr lang="en-US" sz="950" dirty="0">
                <a:solidFill>
                  <a:srgbClr val="5E7075"/>
                </a:solidFill>
                <a:latin typeface="Calibri" pitchFamily="34" charset="0"/>
                <a:ea typeface="Calibri" pitchFamily="34" charset="-122"/>
                <a:cs typeface="Calibri" pitchFamily="34" charset="-120"/>
              </a:rPr>
              <a:t>Service overlap 18 · shared contact 11.2 · combinations 11 · distance, billing pattern and policy change add the rest</a:t>
            </a:r>
            <a:endParaRPr lang="en-US" sz="9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Unsupervised second opinion: three methods, one vote</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Runs on the real cases to detect disagreement with the rules. It never sets a priority by itself.</a:t>
            </a:r>
            <a:endParaRPr lang="en-US" sz="1300" dirty="0"/>
          </a:p>
        </p:txBody>
      </p:sp>
      <p:sp>
        <p:nvSpPr>
          <p:cNvPr id="4" name="Shape 2"/>
          <p:cNvSpPr/>
          <p:nvPr/>
        </p:nvSpPr>
        <p:spPr>
          <a:xfrm>
            <a:off x="457200" y="1280160"/>
            <a:ext cx="2606040" cy="1463040"/>
          </a:xfrm>
          <a:prstGeom prst="roundRect">
            <a:avLst>
              <a:gd name="adj" fmla="val 7500"/>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5" name="Shape 3"/>
          <p:cNvSpPr/>
          <p:nvPr/>
        </p:nvSpPr>
        <p:spPr>
          <a:xfrm>
            <a:off x="594360" y="1389888"/>
            <a:ext cx="402336" cy="402336"/>
          </a:xfrm>
          <a:prstGeom prst="ellipse">
            <a:avLst/>
          </a:prstGeom>
          <a:solidFill>
            <a:srgbClr val="2F5D62"/>
          </a:solidFill>
          <a:ln w="12700">
            <a:solidFill>
              <a:srgbClr val="2F5D62"/>
            </a:solidFill>
            <a:prstDash val="solid"/>
          </a:ln>
        </p:spPr>
      </p:sp>
      <p:pic>
        <p:nvPicPr>
          <p:cNvPr id="6" name="Image 0" descr="preencoded.png">    </p:cNvPr>
          <p:cNvPicPr>
            <a:picLocks noChangeAspect="1"/>
          </p:cNvPicPr>
          <p:nvPr/>
        </p:nvPicPr>
        <p:blipFill>
          <a:blip r:embed="rId2"/>
          <a:stretch>
            <a:fillRect/>
          </a:stretch>
        </p:blipFill>
        <p:spPr>
          <a:xfrm>
            <a:off x="690921" y="1486449"/>
            <a:ext cx="209215" cy="209215"/>
          </a:xfrm>
          <a:prstGeom prst="rect">
            <a:avLst/>
          </a:prstGeom>
        </p:spPr>
      </p:pic>
      <p:sp>
        <p:nvSpPr>
          <p:cNvPr id="7" name="Text 4"/>
          <p:cNvSpPr txBox="1"/>
          <p:nvPr/>
        </p:nvSpPr>
        <p:spPr>
          <a:xfrm>
            <a:off x="1078992" y="1389888"/>
            <a:ext cx="1371600" cy="402336"/>
          </a:xfrm>
          <a:prstGeom prst="rect">
            <a:avLst/>
          </a:prstGeom>
          <a:noFill/>
          <a:ln/>
        </p:spPr>
        <p:txBody>
          <a:bodyPr wrap="square" lIns="0" tIns="0" rIns="0" bIns="0" rtlCol="0" anchor="ctr"/>
          <a:lstStyle/>
          <a:p>
            <a:pPr indent="0" marL="0">
              <a:buNone/>
            </a:pPr>
            <a:r>
              <a:rPr lang="en-US" sz="1250" b="1" dirty="0">
                <a:solidFill>
                  <a:srgbClr val="17262B"/>
                </a:solidFill>
                <a:latin typeface="Calibri" pitchFamily="34" charset="0"/>
                <a:ea typeface="Calibri" pitchFamily="34" charset="-122"/>
                <a:cs typeface="Calibri" pitchFamily="34" charset="-120"/>
              </a:rPr>
              <a:t>Isolation Forest</a:t>
            </a:r>
            <a:endParaRPr lang="en-US" sz="1250" dirty="0"/>
          </a:p>
        </p:txBody>
      </p:sp>
      <p:sp>
        <p:nvSpPr>
          <p:cNvPr id="8" name="Text 5"/>
          <p:cNvSpPr txBox="1"/>
          <p:nvPr/>
        </p:nvSpPr>
        <p:spPr>
          <a:xfrm>
            <a:off x="2331720" y="1344168"/>
            <a:ext cx="640080" cy="365760"/>
          </a:xfrm>
          <a:prstGeom prst="rect">
            <a:avLst/>
          </a:prstGeom>
          <a:noFill/>
          <a:ln/>
        </p:spPr>
        <p:txBody>
          <a:bodyPr wrap="square" lIns="0" tIns="0" rIns="0" bIns="0" rtlCol="0" anchor="ctr"/>
          <a:lstStyle/>
          <a:p>
            <a:pPr algn="r" indent="0" marL="0">
              <a:buNone/>
            </a:pPr>
            <a:r>
              <a:rPr lang="en-US" sz="2200" b="1" dirty="0">
                <a:solidFill>
                  <a:srgbClr val="2F5D62"/>
                </a:solidFill>
                <a:latin typeface="Calibri" pitchFamily="34" charset="0"/>
                <a:ea typeface="Calibri" pitchFamily="34" charset="-122"/>
                <a:cs typeface="Calibri" pitchFamily="34" charset="-120"/>
              </a:rPr>
              <a:t>8</a:t>
            </a:r>
            <a:endParaRPr lang="en-US" sz="2200" dirty="0"/>
          </a:p>
        </p:txBody>
      </p:sp>
      <p:sp>
        <p:nvSpPr>
          <p:cNvPr id="9" name="Text 6"/>
          <p:cNvSpPr txBox="1"/>
          <p:nvPr/>
        </p:nvSpPr>
        <p:spPr>
          <a:xfrm>
            <a:off x="2331720" y="1673352"/>
            <a:ext cx="640080" cy="182880"/>
          </a:xfrm>
          <a:prstGeom prst="rect">
            <a:avLst/>
          </a:prstGeom>
          <a:noFill/>
          <a:ln/>
        </p:spPr>
        <p:txBody>
          <a:bodyPr wrap="square" lIns="0" tIns="0" rIns="0" bIns="0" rtlCol="0" anchor="ctr"/>
          <a:lstStyle/>
          <a:p>
            <a:pPr algn="r" indent="0" marL="0">
              <a:buNone/>
            </a:pPr>
            <a:r>
              <a:rPr lang="en-US" sz="850" dirty="0">
                <a:solidFill>
                  <a:srgbClr val="5E7075"/>
                </a:solidFill>
                <a:latin typeface="Calibri" pitchFamily="34" charset="0"/>
                <a:ea typeface="Calibri" pitchFamily="34" charset="-122"/>
                <a:cs typeface="Calibri" pitchFamily="34" charset="-120"/>
              </a:rPr>
              <a:t>flagged</a:t>
            </a:r>
            <a:endParaRPr lang="en-US" sz="850" dirty="0"/>
          </a:p>
        </p:txBody>
      </p:sp>
      <p:sp>
        <p:nvSpPr>
          <p:cNvPr id="10" name="Text 7"/>
          <p:cNvSpPr txBox="1"/>
          <p:nvPr/>
        </p:nvSpPr>
        <p:spPr>
          <a:xfrm>
            <a:off x="594360" y="1920240"/>
            <a:ext cx="2359152" cy="777240"/>
          </a:xfrm>
          <a:prstGeom prst="rect">
            <a:avLst/>
          </a:prstGeom>
          <a:noFill/>
          <a:ln/>
        </p:spPr>
        <p:txBody>
          <a:bodyPr wrap="square" lIns="0" tIns="0" rIns="0" bIns="0" rtlCol="0" anchor="t"/>
          <a:lstStyle/>
          <a:p>
            <a:pPr indent="0" marL="0">
              <a:buNone/>
            </a:pPr>
            <a:r>
              <a:rPr lang="en-US" sz="1050" dirty="0">
                <a:solidFill>
                  <a:srgbClr val="5E7075"/>
                </a:solidFill>
                <a:latin typeface="Calibri" pitchFamily="34" charset="0"/>
                <a:ea typeface="Calibri" pitchFamily="34" charset="-122"/>
                <a:cs typeface="Calibri" pitchFamily="34" charset="-120"/>
              </a:rPr>
              <a:t>Isolates unusual cases with random splits. Averaged over 10 forests × 100 trees; top 15% flagged.</a:t>
            </a:r>
            <a:endParaRPr lang="en-US" sz="1050" dirty="0"/>
          </a:p>
        </p:txBody>
      </p:sp>
      <p:sp>
        <p:nvSpPr>
          <p:cNvPr id="11" name="Shape 8"/>
          <p:cNvSpPr/>
          <p:nvPr/>
        </p:nvSpPr>
        <p:spPr>
          <a:xfrm>
            <a:off x="3246120" y="1280160"/>
            <a:ext cx="2606040" cy="1463040"/>
          </a:xfrm>
          <a:prstGeom prst="roundRect">
            <a:avLst>
              <a:gd name="adj" fmla="val 7500"/>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2" name="Shape 9"/>
          <p:cNvSpPr/>
          <p:nvPr/>
        </p:nvSpPr>
        <p:spPr>
          <a:xfrm>
            <a:off x="3383280" y="1389888"/>
            <a:ext cx="402336" cy="402336"/>
          </a:xfrm>
          <a:prstGeom prst="ellipse">
            <a:avLst/>
          </a:prstGeom>
          <a:solidFill>
            <a:srgbClr val="4E5AA8"/>
          </a:solidFill>
          <a:ln w="12700">
            <a:solidFill>
              <a:srgbClr val="4E5AA8"/>
            </a:solidFill>
            <a:prstDash val="solid"/>
          </a:ln>
        </p:spPr>
      </p:sp>
      <p:pic>
        <p:nvPicPr>
          <p:cNvPr id="13" name="Image 1" descr="preencoded.png">    </p:cNvPr>
          <p:cNvPicPr>
            <a:picLocks noChangeAspect="1"/>
          </p:cNvPicPr>
          <p:nvPr/>
        </p:nvPicPr>
        <p:blipFill>
          <a:blip r:embed="rId3"/>
          <a:stretch>
            <a:fillRect/>
          </a:stretch>
        </p:blipFill>
        <p:spPr>
          <a:xfrm>
            <a:off x="3479841" y="1486449"/>
            <a:ext cx="209215" cy="209215"/>
          </a:xfrm>
          <a:prstGeom prst="rect">
            <a:avLst/>
          </a:prstGeom>
        </p:spPr>
      </p:pic>
      <p:sp>
        <p:nvSpPr>
          <p:cNvPr id="14" name="Text 10"/>
          <p:cNvSpPr txBox="1"/>
          <p:nvPr/>
        </p:nvSpPr>
        <p:spPr>
          <a:xfrm>
            <a:off x="3867912" y="1389888"/>
            <a:ext cx="1371600" cy="402336"/>
          </a:xfrm>
          <a:prstGeom prst="rect">
            <a:avLst/>
          </a:prstGeom>
          <a:noFill/>
          <a:ln/>
        </p:spPr>
        <p:txBody>
          <a:bodyPr wrap="square" lIns="0" tIns="0" rIns="0" bIns="0" rtlCol="0" anchor="ctr"/>
          <a:lstStyle/>
          <a:p>
            <a:pPr indent="0" marL="0">
              <a:buNone/>
            </a:pPr>
            <a:r>
              <a:rPr lang="en-US" sz="1250" b="1" dirty="0">
                <a:solidFill>
                  <a:srgbClr val="17262B"/>
                </a:solidFill>
                <a:latin typeface="Calibri" pitchFamily="34" charset="0"/>
                <a:ea typeface="Calibri" pitchFamily="34" charset="-122"/>
                <a:cs typeface="Calibri" pitchFamily="34" charset="-120"/>
              </a:rPr>
              <a:t>Local Outlier Factor</a:t>
            </a:r>
            <a:endParaRPr lang="en-US" sz="1250" dirty="0"/>
          </a:p>
        </p:txBody>
      </p:sp>
      <p:sp>
        <p:nvSpPr>
          <p:cNvPr id="15" name="Text 11"/>
          <p:cNvSpPr txBox="1"/>
          <p:nvPr/>
        </p:nvSpPr>
        <p:spPr>
          <a:xfrm>
            <a:off x="5120640" y="1344168"/>
            <a:ext cx="640080" cy="365760"/>
          </a:xfrm>
          <a:prstGeom prst="rect">
            <a:avLst/>
          </a:prstGeom>
          <a:noFill/>
          <a:ln/>
        </p:spPr>
        <p:txBody>
          <a:bodyPr wrap="square" lIns="0" tIns="0" rIns="0" bIns="0" rtlCol="0" anchor="ctr"/>
          <a:lstStyle/>
          <a:p>
            <a:pPr algn="r" indent="0" marL="0">
              <a:buNone/>
            </a:pPr>
            <a:r>
              <a:rPr lang="en-US" sz="2200" b="1" dirty="0">
                <a:solidFill>
                  <a:srgbClr val="4E5AA8"/>
                </a:solidFill>
                <a:latin typeface="Calibri" pitchFamily="34" charset="0"/>
                <a:ea typeface="Calibri" pitchFamily="34" charset="-122"/>
                <a:cs typeface="Calibri" pitchFamily="34" charset="-120"/>
              </a:rPr>
              <a:t>3</a:t>
            </a:r>
            <a:endParaRPr lang="en-US" sz="2200" dirty="0"/>
          </a:p>
        </p:txBody>
      </p:sp>
      <p:sp>
        <p:nvSpPr>
          <p:cNvPr id="16" name="Text 12"/>
          <p:cNvSpPr txBox="1"/>
          <p:nvPr/>
        </p:nvSpPr>
        <p:spPr>
          <a:xfrm>
            <a:off x="5120640" y="1673352"/>
            <a:ext cx="640080" cy="182880"/>
          </a:xfrm>
          <a:prstGeom prst="rect">
            <a:avLst/>
          </a:prstGeom>
          <a:noFill/>
          <a:ln/>
        </p:spPr>
        <p:txBody>
          <a:bodyPr wrap="square" lIns="0" tIns="0" rIns="0" bIns="0" rtlCol="0" anchor="ctr"/>
          <a:lstStyle/>
          <a:p>
            <a:pPr algn="r" indent="0" marL="0">
              <a:buNone/>
            </a:pPr>
            <a:r>
              <a:rPr lang="en-US" sz="850" dirty="0">
                <a:solidFill>
                  <a:srgbClr val="5E7075"/>
                </a:solidFill>
                <a:latin typeface="Calibri" pitchFamily="34" charset="0"/>
                <a:ea typeface="Calibri" pitchFamily="34" charset="-122"/>
                <a:cs typeface="Calibri" pitchFamily="34" charset="-120"/>
              </a:rPr>
              <a:t>flagged</a:t>
            </a:r>
            <a:endParaRPr lang="en-US" sz="850" dirty="0"/>
          </a:p>
        </p:txBody>
      </p:sp>
      <p:sp>
        <p:nvSpPr>
          <p:cNvPr id="17" name="Text 13"/>
          <p:cNvSpPr txBox="1"/>
          <p:nvPr/>
        </p:nvSpPr>
        <p:spPr>
          <a:xfrm>
            <a:off x="3383280" y="1920240"/>
            <a:ext cx="2359152" cy="777240"/>
          </a:xfrm>
          <a:prstGeom prst="rect">
            <a:avLst/>
          </a:prstGeom>
          <a:noFill/>
          <a:ln/>
        </p:spPr>
        <p:txBody>
          <a:bodyPr wrap="square" lIns="0" tIns="0" rIns="0" bIns="0" rtlCol="0" anchor="t"/>
          <a:lstStyle/>
          <a:p>
            <a:pPr indent="0" marL="0">
              <a:buNone/>
            </a:pPr>
            <a:r>
              <a:rPr lang="en-US" sz="1050" dirty="0">
                <a:solidFill>
                  <a:srgbClr val="5E7075"/>
                </a:solidFill>
                <a:latin typeface="Calibri" pitchFamily="34" charset="0"/>
                <a:ea typeface="Calibri" pitchFamily="34" charset="-122"/>
                <a:cs typeface="Calibri" pitchFamily="34" charset="-120"/>
              </a:rPr>
              <a:t>Compares each case's density with its 10 nearest neighbours.</a:t>
            </a:r>
            <a:endParaRPr lang="en-US" sz="1050" dirty="0"/>
          </a:p>
        </p:txBody>
      </p:sp>
      <p:sp>
        <p:nvSpPr>
          <p:cNvPr id="18" name="Shape 14"/>
          <p:cNvSpPr/>
          <p:nvPr/>
        </p:nvSpPr>
        <p:spPr>
          <a:xfrm>
            <a:off x="6035040" y="1280160"/>
            <a:ext cx="2606040" cy="1463040"/>
          </a:xfrm>
          <a:prstGeom prst="roundRect">
            <a:avLst>
              <a:gd name="adj" fmla="val 7500"/>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9" name="Shape 15"/>
          <p:cNvSpPr/>
          <p:nvPr/>
        </p:nvSpPr>
        <p:spPr>
          <a:xfrm>
            <a:off x="6172200" y="1389888"/>
            <a:ext cx="402336" cy="402336"/>
          </a:xfrm>
          <a:prstGeom prst="ellipse">
            <a:avLst/>
          </a:prstGeom>
          <a:solidFill>
            <a:srgbClr val="E07A5F"/>
          </a:solidFill>
          <a:ln w="12700">
            <a:solidFill>
              <a:srgbClr val="E07A5F"/>
            </a:solidFill>
            <a:prstDash val="solid"/>
          </a:ln>
        </p:spPr>
      </p:sp>
      <p:pic>
        <p:nvPicPr>
          <p:cNvPr id="20" name="Image 2" descr="preencoded.png">    </p:cNvPr>
          <p:cNvPicPr>
            <a:picLocks noChangeAspect="1"/>
          </p:cNvPicPr>
          <p:nvPr/>
        </p:nvPicPr>
        <p:blipFill>
          <a:blip r:embed="rId4"/>
          <a:stretch>
            <a:fillRect/>
          </a:stretch>
        </p:blipFill>
        <p:spPr>
          <a:xfrm>
            <a:off x="6268761" y="1486449"/>
            <a:ext cx="209215" cy="209215"/>
          </a:xfrm>
          <a:prstGeom prst="rect">
            <a:avLst/>
          </a:prstGeom>
        </p:spPr>
      </p:pic>
      <p:sp>
        <p:nvSpPr>
          <p:cNvPr id="21" name="Text 16"/>
          <p:cNvSpPr txBox="1"/>
          <p:nvPr/>
        </p:nvSpPr>
        <p:spPr>
          <a:xfrm>
            <a:off x="6656832" y="1389888"/>
            <a:ext cx="1371600" cy="402336"/>
          </a:xfrm>
          <a:prstGeom prst="rect">
            <a:avLst/>
          </a:prstGeom>
          <a:noFill/>
          <a:ln/>
        </p:spPr>
        <p:txBody>
          <a:bodyPr wrap="square" lIns="0" tIns="0" rIns="0" bIns="0" rtlCol="0" anchor="ctr"/>
          <a:lstStyle/>
          <a:p>
            <a:pPr indent="0" marL="0">
              <a:buNone/>
            </a:pPr>
            <a:r>
              <a:rPr lang="en-US" sz="1250" b="1" dirty="0">
                <a:solidFill>
                  <a:srgbClr val="17262B"/>
                </a:solidFill>
                <a:latin typeface="Calibri" pitchFamily="34" charset="0"/>
                <a:ea typeface="Calibri" pitchFamily="34" charset="-122"/>
                <a:cs typeface="Calibri" pitchFamily="34" charset="-120"/>
              </a:rPr>
              <a:t>PCA reconstruction</a:t>
            </a:r>
            <a:endParaRPr lang="en-US" sz="1250" dirty="0"/>
          </a:p>
        </p:txBody>
      </p:sp>
      <p:sp>
        <p:nvSpPr>
          <p:cNvPr id="22" name="Text 17"/>
          <p:cNvSpPr txBox="1"/>
          <p:nvPr/>
        </p:nvSpPr>
        <p:spPr>
          <a:xfrm>
            <a:off x="7909560" y="1344168"/>
            <a:ext cx="640080" cy="365760"/>
          </a:xfrm>
          <a:prstGeom prst="rect">
            <a:avLst/>
          </a:prstGeom>
          <a:noFill/>
          <a:ln/>
        </p:spPr>
        <p:txBody>
          <a:bodyPr wrap="square" lIns="0" tIns="0" rIns="0" bIns="0" rtlCol="0" anchor="ctr"/>
          <a:lstStyle/>
          <a:p>
            <a:pPr algn="r" indent="0" marL="0">
              <a:buNone/>
            </a:pPr>
            <a:r>
              <a:rPr lang="en-US" sz="2200" b="1" dirty="0">
                <a:solidFill>
                  <a:srgbClr val="E07A5F"/>
                </a:solidFill>
                <a:latin typeface="Calibri" pitchFamily="34" charset="0"/>
                <a:ea typeface="Calibri" pitchFamily="34" charset="-122"/>
                <a:cs typeface="Calibri" pitchFamily="34" charset="-120"/>
              </a:rPr>
              <a:t>8</a:t>
            </a:r>
            <a:endParaRPr lang="en-US" sz="2200" dirty="0"/>
          </a:p>
        </p:txBody>
      </p:sp>
      <p:sp>
        <p:nvSpPr>
          <p:cNvPr id="23" name="Text 18"/>
          <p:cNvSpPr txBox="1"/>
          <p:nvPr/>
        </p:nvSpPr>
        <p:spPr>
          <a:xfrm>
            <a:off x="7909560" y="1673352"/>
            <a:ext cx="640080" cy="182880"/>
          </a:xfrm>
          <a:prstGeom prst="rect">
            <a:avLst/>
          </a:prstGeom>
          <a:noFill/>
          <a:ln/>
        </p:spPr>
        <p:txBody>
          <a:bodyPr wrap="square" lIns="0" tIns="0" rIns="0" bIns="0" rtlCol="0" anchor="ctr"/>
          <a:lstStyle/>
          <a:p>
            <a:pPr algn="r" indent="0" marL="0">
              <a:buNone/>
            </a:pPr>
            <a:r>
              <a:rPr lang="en-US" sz="850" dirty="0">
                <a:solidFill>
                  <a:srgbClr val="5E7075"/>
                </a:solidFill>
                <a:latin typeface="Calibri" pitchFamily="34" charset="0"/>
                <a:ea typeface="Calibri" pitchFamily="34" charset="-122"/>
                <a:cs typeface="Calibri" pitchFamily="34" charset="-120"/>
              </a:rPr>
              <a:t>flagged</a:t>
            </a:r>
            <a:endParaRPr lang="en-US" sz="850" dirty="0"/>
          </a:p>
        </p:txBody>
      </p:sp>
      <p:sp>
        <p:nvSpPr>
          <p:cNvPr id="24" name="Text 19"/>
          <p:cNvSpPr txBox="1"/>
          <p:nvPr/>
        </p:nvSpPr>
        <p:spPr>
          <a:xfrm>
            <a:off x="6172200" y="1920240"/>
            <a:ext cx="2359152" cy="777240"/>
          </a:xfrm>
          <a:prstGeom prst="rect">
            <a:avLst/>
          </a:prstGeom>
          <a:noFill/>
          <a:ln/>
        </p:spPr>
        <p:txBody>
          <a:bodyPr wrap="square" lIns="0" tIns="0" rIns="0" bIns="0" rtlCol="0" anchor="t"/>
          <a:lstStyle/>
          <a:p>
            <a:pPr indent="0" marL="0">
              <a:buNone/>
            </a:pPr>
            <a:r>
              <a:rPr lang="en-US" sz="1050" dirty="0">
                <a:solidFill>
                  <a:srgbClr val="5E7075"/>
                </a:solidFill>
                <a:latin typeface="Calibri" pitchFamily="34" charset="0"/>
                <a:ea typeface="Calibri" pitchFamily="34" charset="-122"/>
                <a:cs typeface="Calibri" pitchFamily="34" charset="-120"/>
              </a:rPr>
              <a:t>3 principal components; cases they cannot reconstruct are unusual (top 15%).</a:t>
            </a:r>
            <a:endParaRPr lang="en-US" sz="1050" dirty="0"/>
          </a:p>
        </p:txBody>
      </p:sp>
      <p:sp>
        <p:nvSpPr>
          <p:cNvPr id="25" name="Shape 20"/>
          <p:cNvSpPr/>
          <p:nvPr/>
        </p:nvSpPr>
        <p:spPr>
          <a:xfrm>
            <a:off x="457200" y="2926080"/>
            <a:ext cx="3291840" cy="1783080"/>
          </a:xfrm>
          <a:prstGeom prst="roundRect">
            <a:avLst>
              <a:gd name="adj" fmla="val 6154"/>
            </a:avLst>
          </a:prstGeom>
          <a:solidFill>
            <a:srgbClr val="ECEBFA"/>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26" name="Text 21"/>
          <p:cNvSpPr txBox="1"/>
          <p:nvPr/>
        </p:nvSpPr>
        <p:spPr>
          <a:xfrm>
            <a:off x="594360" y="3017520"/>
            <a:ext cx="3063240" cy="1645920"/>
          </a:xfrm>
          <a:prstGeom prst="rect">
            <a:avLst/>
          </a:prstGeom>
          <a:noFill/>
          <a:ln/>
        </p:spPr>
        <p:txBody>
          <a:bodyPr wrap="square" lIns="0" tIns="0" rIns="0" bIns="0" rtlCol="0" anchor="t"/>
          <a:lstStyle/>
          <a:p>
            <a:pPr indent="0" marL="0">
              <a:spcAft>
                <a:spcPts val="300"/>
              </a:spcAft>
              <a:buNone/>
            </a:pPr>
            <a:r>
              <a:rPr lang="en-US" sz="1050" b="1" dirty="0">
                <a:solidFill>
                  <a:srgbClr val="4E5AA8"/>
                </a:solidFill>
                <a:latin typeface="Calibri" pitchFamily="34" charset="0"/>
                <a:ea typeface="Calibri" pitchFamily="34" charset="-122"/>
                <a:cs typeface="Calibri" pitchFamily="34" charset="-120"/>
              </a:rPr>
              <a:t>The vote</a:t>
            </a:r>
            <a:endParaRPr lang="en-US" sz="1050" dirty="0"/>
          </a:p>
          <a:p>
            <a:pPr marL="152400" indent="-152400">
              <a:spcAft>
                <a:spcPts val="300"/>
              </a:spcAft>
              <a:buSzPct val="100000"/>
              <a:buChar char="•"/>
            </a:pPr>
            <a:r>
              <a:rPr lang="en-US" sz="1050" dirty="0">
                <a:solidFill>
                  <a:srgbClr val="17262B"/>
                </a:solidFill>
                <a:latin typeface="Calibri" pitchFamily="34" charset="0"/>
                <a:ea typeface="Calibri" pitchFamily="34" charset="-122"/>
                <a:cs typeface="Calibri" pitchFamily="34" charset="-120"/>
              </a:rPr>
              <a:t>A case is unusual when at least 2 of 3 methods agree</a:t>
            </a:r>
            <a:endParaRPr lang="en-US" sz="1050" dirty="0"/>
          </a:p>
          <a:p>
            <a:pPr marL="152400" indent="-152400">
              <a:spcAft>
                <a:spcPts val="300"/>
              </a:spcAft>
              <a:buSzPct val="100000"/>
              <a:buChar char="•"/>
            </a:pPr>
            <a:r>
              <a:rPr lang="en-US" sz="1050" dirty="0">
                <a:solidFill>
                  <a:srgbClr val="17262B"/>
                </a:solidFill>
                <a:latin typeface="Calibri" pitchFamily="34" charset="0"/>
                <a:ea typeface="Calibri" pitchFamily="34" charset="-122"/>
                <a:cs typeface="Calibri" pitchFamily="34" charset="-120"/>
              </a:rPr>
              <a:t>and it is unusual in a suspicious direction (a flag is set or a signal is above the norm)</a:t>
            </a:r>
            <a:endParaRPr lang="en-US" sz="1050" dirty="0"/>
          </a:p>
          <a:p>
            <a:pPr marL="152400" indent="-152400">
              <a:spcAft>
                <a:spcPts val="300"/>
              </a:spcAft>
              <a:buSzPct val="100000"/>
              <a:buChar char="•"/>
            </a:pPr>
            <a:r>
              <a:rPr lang="en-US" sz="1050" dirty="0">
                <a:solidFill>
                  <a:srgbClr val="17262B"/>
                </a:solidFill>
                <a:latin typeface="Calibri" pitchFamily="34" charset="0"/>
                <a:ea typeface="Calibri" pitchFamily="34" charset="-122"/>
                <a:cs typeface="Calibri" pitchFamily="34" charset="-120"/>
              </a:rPr>
              <a:t>Features are robust-scaled (median and IQR); claim amount is excluded</a:t>
            </a:r>
            <a:endParaRPr lang="en-US" sz="1050" dirty="0"/>
          </a:p>
        </p:txBody>
      </p:sp>
      <p:sp>
        <p:nvSpPr>
          <p:cNvPr id="27" name="Text 22"/>
          <p:cNvSpPr txBox="1"/>
          <p:nvPr/>
        </p:nvSpPr>
        <p:spPr>
          <a:xfrm>
            <a:off x="3977640" y="2926080"/>
            <a:ext cx="4709160" cy="274320"/>
          </a:xfrm>
          <a:prstGeom prst="rect">
            <a:avLst/>
          </a:prstGeom>
          <a:noFill/>
          <a:ln/>
        </p:spPr>
        <p:txBody>
          <a:bodyPr wrap="square" lIns="0" tIns="0" rIns="0" bIns="0" rtlCol="0" anchor="ctr"/>
          <a:lstStyle/>
          <a:p>
            <a:pPr indent="0" marL="0">
              <a:buNone/>
            </a:pPr>
            <a:r>
              <a:rPr lang="en-US" sz="1200" b="1" dirty="0">
                <a:solidFill>
                  <a:srgbClr val="17262B"/>
                </a:solidFill>
                <a:latin typeface="Calibri" pitchFamily="34" charset="0"/>
                <a:ea typeface="Calibri" pitchFamily="34" charset="-122"/>
                <a:cs typeface="Calibri" pitchFamily="34" charset="-120"/>
              </a:rPr>
              <a:t>Outcome on the supplied queue: 4 cases unusual</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977640" y="3246120"/>
          <a:ext cx="4709160" cy="914400"/>
        </p:xfrm>
        <a:graphic>
          <a:graphicData uri="http://schemas.openxmlformats.org/drawingml/2006/table">
            <a:tbl>
              <a:tblPr/>
              <a:tblGrid>
                <a:gridCol w="548640"/>
                <a:gridCol w="502920"/>
                <a:gridCol w="411480"/>
                <a:gridCol w="411480"/>
                <a:gridCol w="411480"/>
                <a:gridCol w="242316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Case</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4E5A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pct</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4E5A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4E5A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LOF</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4E5A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PCA</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4E5A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Outcome</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4E5AA8"/>
                    </a:solidFill>
                  </a:tcPr>
                </a:tc>
              </a:tr>
              <a:tr h="274320">
                <a:tc>
                  <a:txBody>
                    <a:bodyPr/>
                    <a:lstStyle/>
                    <a:p>
                      <a:pPr indent="0" marL="0">
                        <a:buNone/>
                      </a:pPr>
                      <a:r>
                        <a:rPr lang="en-US" sz="1050" b="1" dirty="0">
                          <a:solidFill>
                            <a:srgbClr val="17262B"/>
                          </a:solidFill>
                          <a:latin typeface="Calibri" pitchFamily="34" charset="0"/>
                          <a:ea typeface="Calibri" pitchFamily="34" charset="-122"/>
                          <a:cs typeface="Calibri" pitchFamily="34" charset="-120"/>
                        </a:rPr>
                        <a:t>C1023</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98</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950" dirty="0">
                          <a:solidFill>
                            <a:srgbClr val="17262B"/>
                          </a:solidFill>
                          <a:latin typeface="Calibri" pitchFamily="34" charset="0"/>
                          <a:ea typeface="Calibri" pitchFamily="34" charset="-122"/>
                          <a:cs typeface="Calibri" pitchFamily="34" charset="-120"/>
                        </a:rPr>
                        <a:t>Agrees: high priority</a:t>
                      </a:r>
                      <a:endParaRPr lang="en-US" sz="9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7262B"/>
                          </a:solidFill>
                          <a:latin typeface="Calibri" pitchFamily="34" charset="0"/>
                          <a:ea typeface="Calibri" pitchFamily="34" charset="-122"/>
                          <a:cs typeface="Calibri" pitchFamily="34" charset="-120"/>
                        </a:rPr>
                        <a:t>C1050</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96</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950" dirty="0">
                          <a:solidFill>
                            <a:srgbClr val="17262B"/>
                          </a:solidFill>
                          <a:latin typeface="Calibri" pitchFamily="34" charset="0"/>
                          <a:ea typeface="Calibri" pitchFamily="34" charset="-122"/>
                          <a:cs typeface="Calibri" pitchFamily="34" charset="-120"/>
                        </a:rPr>
                        <a:t>Agrees: high priority</a:t>
                      </a:r>
                      <a:endParaRPr lang="en-US" sz="9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r>
              <a:tr h="274320">
                <a:tc>
                  <a:txBody>
                    <a:bodyPr/>
                    <a:lstStyle/>
                    <a:p>
                      <a:pPr indent="0" marL="0">
                        <a:buNone/>
                      </a:pPr>
                      <a:r>
                        <a:rPr lang="en-US" sz="1050" b="1" dirty="0">
                          <a:solidFill>
                            <a:srgbClr val="17262B"/>
                          </a:solidFill>
                          <a:latin typeface="Calibri" pitchFamily="34" charset="0"/>
                          <a:ea typeface="Calibri" pitchFamily="34" charset="-122"/>
                          <a:cs typeface="Calibri" pitchFamily="34" charset="-120"/>
                        </a:rPr>
                        <a:t>C1011</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92</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950" dirty="0">
                          <a:solidFill>
                            <a:srgbClr val="17262B"/>
                          </a:solidFill>
                          <a:latin typeface="Calibri" pitchFamily="34" charset="0"/>
                          <a:ea typeface="Calibri" pitchFamily="34" charset="-122"/>
                          <a:cs typeface="Calibri" pitchFamily="34" charset="-120"/>
                        </a:rPr>
                        <a:t>Second opinion shown: rules say Needs attention</a:t>
                      </a:r>
                      <a:endParaRPr lang="en-US" sz="9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7262B"/>
                          </a:solidFill>
                          <a:latin typeface="Calibri" pitchFamily="34" charset="0"/>
                          <a:ea typeface="Calibri" pitchFamily="34" charset="-122"/>
                          <a:cs typeface="Calibri" pitchFamily="34" charset="-120"/>
                        </a:rPr>
                        <a:t>C1019</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72</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950" dirty="0">
                          <a:solidFill>
                            <a:srgbClr val="17262B"/>
                          </a:solidFill>
                          <a:latin typeface="Calibri" pitchFamily="34" charset="0"/>
                          <a:ea typeface="Calibri" pitchFamily="34" charset="-122"/>
                          <a:cs typeface="Calibri" pitchFamily="34" charset="-120"/>
                        </a:rPr>
                        <a:t>Raised to Needs attention (rules 18.9, below 20)</a:t>
                      </a:r>
                      <a:endParaRPr lang="en-US" sz="950" dirty="0">
                        <a:latin typeface="Calibri" charset="0"/>
                        <a:ea typeface="Calibri" charset="0"/>
                        <a:cs typeface="Calibri" charset="0"/>
                      </a:endParaRPr>
                    </a:p>
                  </a:txBody>
                  <a:tcPr marL="50800" marR="508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r>
            </a:tbl>
          </a:graphicData>
        </a:graphic>
      </p:graphicFrame>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Two independent methods, one queue</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Transparent rules lead; an unsupervised Isolation Forest gives a visible second opinion</a:t>
            </a:r>
            <a:endParaRPr lang="en-US" sz="1300" dirty="0"/>
          </a:p>
        </p:txBody>
      </p:sp>
      <p:sp>
        <p:nvSpPr>
          <p:cNvPr id="4" name="Shape 2"/>
          <p:cNvSpPr/>
          <p:nvPr/>
        </p:nvSpPr>
        <p:spPr>
          <a:xfrm>
            <a:off x="457200" y="1234440"/>
            <a:ext cx="4846320" cy="3474720"/>
          </a:xfrm>
          <a:prstGeom prst="roundRect">
            <a:avLst>
              <a:gd name="adj" fmla="val 3158"/>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graphicFrame>
        <p:nvGraphicFramePr>
          <p:cNvPr id="5" name="Chart 0" descr=""/>
          <p:cNvGraphicFramePr/>
          <p:nvPr/>
        </p:nvGraphicFramePr>
        <p:xfrm>
          <a:off x="594360" y="1325880"/>
          <a:ext cx="4572000" cy="3291840"/>
        </p:xfrm>
        <a:graphic xmlns:a="http://schemas.openxmlformats.org/drawingml/2006/main">
          <a:graphicData uri="http://schemas.openxmlformats.org/drawingml/2006/chart">
            <c:chart xmlns:c="http://schemas.openxmlformats.org/drawingml/2006/chart" r:id="rId2"/>
          </a:graphicData>
        </a:graphic>
      </p:graphicFrame>
      <p:sp>
        <p:nvSpPr>
          <p:cNvPr id="6" name="Text 3"/>
          <p:cNvSpPr txBox="1"/>
          <p:nvPr/>
        </p:nvSpPr>
        <p:spPr>
          <a:xfrm>
            <a:off x="1627632" y="3200400"/>
            <a:ext cx="2103120" cy="457200"/>
          </a:xfrm>
          <a:prstGeom prst="rect">
            <a:avLst/>
          </a:prstGeom>
          <a:noFill/>
          <a:ln/>
        </p:spPr>
        <p:txBody>
          <a:bodyPr wrap="square" lIns="0" tIns="0" rIns="0" bIns="0" rtlCol="0" anchor="ctr"/>
          <a:lstStyle/>
          <a:p>
            <a:pPr indent="0" marL="0">
              <a:buNone/>
            </a:pPr>
            <a:r>
              <a:rPr lang="en-US" sz="950" i="1" dirty="0">
                <a:solidFill>
                  <a:srgbClr val="3F7D4E"/>
                </a:solidFill>
                <a:latin typeface="Calibri" pitchFamily="34" charset="0"/>
                <a:ea typeface="Calibri" pitchFamily="34" charset="-122"/>
                <a:cs typeface="Calibri" pitchFamily="34" charset="-120"/>
              </a:rPr>
              <a:t>29 lower-priority cases score 0 on the rules, whatever their anomaly rank</a:t>
            </a:r>
            <a:endParaRPr lang="en-US" sz="950" dirty="0"/>
          </a:p>
        </p:txBody>
      </p:sp>
      <p:sp>
        <p:nvSpPr>
          <p:cNvPr id="7" name="Text 4"/>
          <p:cNvSpPr txBox="1"/>
          <p:nvPr/>
        </p:nvSpPr>
        <p:spPr>
          <a:xfrm>
            <a:off x="5577840" y="1280160"/>
            <a:ext cx="1234440" cy="548640"/>
          </a:xfrm>
          <a:prstGeom prst="rect">
            <a:avLst/>
          </a:prstGeom>
          <a:noFill/>
          <a:ln/>
        </p:spPr>
        <p:txBody>
          <a:bodyPr wrap="square" lIns="0" tIns="0" rIns="0" bIns="0" rtlCol="0" anchor="ctr"/>
          <a:lstStyle/>
          <a:p>
            <a:pPr indent="0" marL="0">
              <a:buNone/>
            </a:pPr>
            <a:r>
              <a:rPr lang="en-US" sz="3000" b="1" dirty="0">
                <a:solidFill>
                  <a:srgbClr val="2F5D62"/>
                </a:solidFill>
                <a:latin typeface="Calibri" pitchFamily="34" charset="0"/>
                <a:ea typeface="Calibri" pitchFamily="34" charset="-122"/>
                <a:cs typeface="Calibri" pitchFamily="34" charset="-120"/>
              </a:rPr>
              <a:t>0.86</a:t>
            </a:r>
            <a:endParaRPr lang="en-US" sz="3000" dirty="0"/>
          </a:p>
        </p:txBody>
      </p:sp>
      <p:sp>
        <p:nvSpPr>
          <p:cNvPr id="8" name="Text 5"/>
          <p:cNvSpPr txBox="1"/>
          <p:nvPr/>
        </p:nvSpPr>
        <p:spPr>
          <a:xfrm>
            <a:off x="6812280" y="1280160"/>
            <a:ext cx="1874520" cy="548640"/>
          </a:xfrm>
          <a:prstGeom prst="rect">
            <a:avLst/>
          </a:prstGeom>
          <a:noFill/>
          <a:ln/>
        </p:spPr>
        <p:txBody>
          <a:bodyPr wrap="square" lIns="0" tIns="0" rIns="0" bIns="0" rtlCol="0" anchor="ctr"/>
          <a:lstStyle/>
          <a:p>
            <a:pPr indent="0" marL="0">
              <a:buNone/>
            </a:pPr>
            <a:r>
              <a:rPr lang="en-US" sz="1100" dirty="0">
                <a:solidFill>
                  <a:srgbClr val="17262B"/>
                </a:solidFill>
                <a:latin typeface="Calibri" pitchFamily="34" charset="0"/>
                <a:ea typeface="Calibri" pitchFamily="34" charset="-122"/>
                <a:cs typeface="Calibri" pitchFamily="34" charset="-120"/>
              </a:rPr>
              <a:t>rank correlation with the independent Isolation Forest analysis</a:t>
            </a:r>
            <a:endParaRPr lang="en-US" sz="1100" dirty="0"/>
          </a:p>
        </p:txBody>
      </p:sp>
      <p:sp>
        <p:nvSpPr>
          <p:cNvPr id="9" name="Text 6"/>
          <p:cNvSpPr txBox="1"/>
          <p:nvPr/>
        </p:nvSpPr>
        <p:spPr>
          <a:xfrm>
            <a:off x="5577840" y="1920240"/>
            <a:ext cx="1234440" cy="548640"/>
          </a:xfrm>
          <a:prstGeom prst="rect">
            <a:avLst/>
          </a:prstGeom>
          <a:noFill/>
          <a:ln/>
        </p:spPr>
        <p:txBody>
          <a:bodyPr wrap="square" lIns="0" tIns="0" rIns="0" bIns="0" rtlCol="0" anchor="ctr"/>
          <a:lstStyle/>
          <a:p>
            <a:pPr indent="0" marL="0">
              <a:buNone/>
            </a:pPr>
            <a:r>
              <a:rPr lang="en-US" sz="3000" b="1" dirty="0">
                <a:solidFill>
                  <a:srgbClr val="4E5AA8"/>
                </a:solidFill>
                <a:latin typeface="Calibri" pitchFamily="34" charset="0"/>
                <a:ea typeface="Calibri" pitchFamily="34" charset="-122"/>
                <a:cs typeface="Calibri" pitchFamily="34" charset="-120"/>
              </a:rPr>
              <a:t>8/10</a:t>
            </a:r>
            <a:endParaRPr lang="en-US" sz="3000" dirty="0"/>
          </a:p>
        </p:txBody>
      </p:sp>
      <p:sp>
        <p:nvSpPr>
          <p:cNvPr id="10" name="Text 7"/>
          <p:cNvSpPr txBox="1"/>
          <p:nvPr/>
        </p:nvSpPr>
        <p:spPr>
          <a:xfrm>
            <a:off x="6812280" y="1920240"/>
            <a:ext cx="1874520" cy="548640"/>
          </a:xfrm>
          <a:prstGeom prst="rect">
            <a:avLst/>
          </a:prstGeom>
          <a:noFill/>
          <a:ln/>
        </p:spPr>
        <p:txBody>
          <a:bodyPr wrap="square" lIns="0" tIns="0" rIns="0" bIns="0" rtlCol="0" anchor="ctr"/>
          <a:lstStyle/>
          <a:p>
            <a:pPr indent="0" marL="0">
              <a:buNone/>
            </a:pPr>
            <a:r>
              <a:rPr lang="en-US" sz="1100" dirty="0">
                <a:solidFill>
                  <a:srgbClr val="17262B"/>
                </a:solidFill>
                <a:latin typeface="Calibri" pitchFamily="34" charset="0"/>
                <a:ea typeface="Calibri" pitchFamily="34" charset="-122"/>
                <a:cs typeface="Calibri" pitchFamily="34" charset="-120"/>
              </a:rPr>
              <a:t>same cases in both top-10 lists</a:t>
            </a:r>
            <a:endParaRPr lang="en-US" sz="1100" dirty="0"/>
          </a:p>
        </p:txBody>
      </p:sp>
      <p:sp>
        <p:nvSpPr>
          <p:cNvPr id="11" name="Text 8"/>
          <p:cNvSpPr txBox="1"/>
          <p:nvPr/>
        </p:nvSpPr>
        <p:spPr>
          <a:xfrm>
            <a:off x="5577840" y="2560320"/>
            <a:ext cx="1234440" cy="548640"/>
          </a:xfrm>
          <a:prstGeom prst="rect">
            <a:avLst/>
          </a:prstGeom>
          <a:noFill/>
          <a:ln/>
        </p:spPr>
        <p:txBody>
          <a:bodyPr wrap="square" lIns="0" tIns="0" rIns="0" bIns="0" rtlCol="0" anchor="ctr"/>
          <a:lstStyle/>
          <a:p>
            <a:pPr indent="0" marL="0">
              <a:buNone/>
            </a:pPr>
            <a:r>
              <a:rPr lang="en-US" sz="3000" b="1" dirty="0">
                <a:solidFill>
                  <a:srgbClr val="E07A5F"/>
                </a:solidFill>
                <a:latin typeface="Calibri" pitchFamily="34" charset="0"/>
                <a:ea typeface="Calibri" pitchFamily="34" charset="-122"/>
                <a:cs typeface="Calibri" pitchFamily="34" charset="-120"/>
              </a:rPr>
              <a:t>2</a:t>
            </a:r>
            <a:endParaRPr lang="en-US" sz="3000" dirty="0"/>
          </a:p>
        </p:txBody>
      </p:sp>
      <p:sp>
        <p:nvSpPr>
          <p:cNvPr id="12" name="Text 9"/>
          <p:cNvSpPr txBox="1"/>
          <p:nvPr/>
        </p:nvSpPr>
        <p:spPr>
          <a:xfrm>
            <a:off x="6812280" y="2560320"/>
            <a:ext cx="1874520" cy="548640"/>
          </a:xfrm>
          <a:prstGeom prst="rect">
            <a:avLst/>
          </a:prstGeom>
          <a:noFill/>
          <a:ln/>
        </p:spPr>
        <p:txBody>
          <a:bodyPr wrap="square" lIns="0" tIns="0" rIns="0" bIns="0" rtlCol="0" anchor="ctr"/>
          <a:lstStyle/>
          <a:p>
            <a:pPr indent="0" marL="0">
              <a:buNone/>
            </a:pPr>
            <a:r>
              <a:rPr lang="en-US" sz="1100" dirty="0">
                <a:solidFill>
                  <a:srgbClr val="17262B"/>
                </a:solidFill>
                <a:latin typeface="Calibri" pitchFamily="34" charset="0"/>
                <a:ea typeface="Calibri" pitchFamily="34" charset="-122"/>
                <a:cs typeface="Calibri" pitchFamily="34" charset="-120"/>
              </a:rPr>
              <a:t>disagreements shown as a Second opinion: C1011, C1019</a:t>
            </a:r>
            <a:endParaRPr lang="en-US" sz="1100" dirty="0"/>
          </a:p>
        </p:txBody>
      </p:sp>
      <p:sp>
        <p:nvSpPr>
          <p:cNvPr id="13" name="Shape 10"/>
          <p:cNvSpPr/>
          <p:nvPr/>
        </p:nvSpPr>
        <p:spPr>
          <a:xfrm>
            <a:off x="5532120" y="3291840"/>
            <a:ext cx="3154680" cy="1417320"/>
          </a:xfrm>
          <a:prstGeom prst="roundRect">
            <a:avLst>
              <a:gd name="adj" fmla="val 7742"/>
            </a:avLst>
          </a:prstGeom>
          <a:solidFill>
            <a:srgbClr val="ECEBFA"/>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4" name="Text 11"/>
          <p:cNvSpPr txBox="1"/>
          <p:nvPr/>
        </p:nvSpPr>
        <p:spPr>
          <a:xfrm>
            <a:off x="5669280" y="3364992"/>
            <a:ext cx="2926080" cy="1280160"/>
          </a:xfrm>
          <a:prstGeom prst="rect">
            <a:avLst/>
          </a:prstGeom>
          <a:noFill/>
          <a:ln/>
        </p:spPr>
        <p:txBody>
          <a:bodyPr wrap="square" lIns="0" tIns="0" rIns="0" bIns="0" rtlCol="0" anchor="t"/>
          <a:lstStyle/>
          <a:p>
            <a:pPr indent="0" marL="0">
              <a:spcAft>
                <a:spcPts val="200"/>
              </a:spcAft>
              <a:buNone/>
            </a:pPr>
            <a:r>
              <a:rPr lang="en-US" sz="1050" b="1" dirty="0">
                <a:solidFill>
                  <a:srgbClr val="4E5AA8"/>
                </a:solidFill>
                <a:latin typeface="Calibri" pitchFamily="34" charset="0"/>
                <a:ea typeface="Calibri" pitchFamily="34" charset="-122"/>
                <a:cs typeface="Calibri" pitchFamily="34" charset="-120"/>
              </a:rPr>
              <a:t>Adopted from the review</a:t>
            </a:r>
            <a:endParaRPr lang="en-US" sz="1050" dirty="0"/>
          </a:p>
          <a:p>
            <a:pPr marL="152400" indent="-152400">
              <a:spcAft>
                <a:spcPts val="200"/>
              </a:spcAft>
              <a:buSzPct val="100000"/>
              <a:buChar char="•"/>
            </a:pPr>
            <a:r>
              <a:rPr lang="en-US" sz="1050" dirty="0">
                <a:solidFill>
                  <a:srgbClr val="17262B"/>
                </a:solidFill>
                <a:latin typeface="Calibri" pitchFamily="34" charset="0"/>
                <a:ea typeface="Calibri" pitchFamily="34" charset="-122"/>
                <a:cs typeface="Calibri" pitchFamily="34" charset="-120"/>
              </a:rPr>
              <a:t>Shared contact + overlap rule (C1023 to high priority)</a:t>
            </a:r>
            <a:endParaRPr lang="en-US" sz="1050" dirty="0"/>
          </a:p>
          <a:p>
            <a:pPr marL="152400" indent="-152400">
              <a:spcAft>
                <a:spcPts val="200"/>
              </a:spcAft>
              <a:buSzPct val="100000"/>
              <a:buChar char="•"/>
            </a:pPr>
            <a:r>
              <a:rPr lang="en-US" sz="1050" dirty="0">
                <a:solidFill>
                  <a:srgbClr val="17262B"/>
                </a:solidFill>
                <a:latin typeface="Calibri" pitchFamily="34" charset="0"/>
                <a:ea typeface="Calibri" pitchFamily="34" charset="-122"/>
                <a:cs typeface="Calibri" pitchFamily="34" charset="-120"/>
              </a:rPr>
              <a:t>Isolation Forest averaged over 10 forests</a:t>
            </a:r>
            <a:endParaRPr lang="en-US" sz="1050" dirty="0"/>
          </a:p>
          <a:p>
            <a:pPr marL="152400" indent="-152400">
              <a:spcAft>
                <a:spcPts val="200"/>
              </a:spcAft>
              <a:buSzPct val="100000"/>
              <a:buChar char="•"/>
            </a:pPr>
            <a:r>
              <a:rPr lang="en-US" sz="1050" dirty="0">
                <a:solidFill>
                  <a:srgbClr val="17262B"/>
                </a:solidFill>
                <a:latin typeface="Calibri" pitchFamily="34" charset="0"/>
                <a:ea typeface="Calibri" pitchFamily="34" charset="-122"/>
                <a:cs typeface="Calibri" pitchFamily="34" charset="-120"/>
              </a:rPr>
              <a:t>Anomalies only count in a suspicious direction</a:t>
            </a:r>
            <a:endParaRPr lang="en-US" sz="10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LLM layer: any model, the same guardrails</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One provider interface over REST; no vendor SDK. The LLM explains, it never scores.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892040" cy="914400"/>
        </p:xfrm>
        <a:graphic>
          <a:graphicData uri="http://schemas.openxmlformats.org/drawingml/2006/table">
            <a:tbl>
              <a:tblPr/>
              <a:tblGrid>
                <a:gridCol w="2011680"/>
                <a:gridCol w="1234440"/>
                <a:gridCol w="164592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Provider</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Default model</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Connect with</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r>
              <a:tr h="38404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Google Gemini (spec default)</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gemini-2.5-flash</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GEMINI_API_KEY</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Anthropic Claude</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claude-sonnet-5</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ANTHROPIC_API_KEY</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r>
              <a:tr h="38404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OpenAI</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gpt-4o-mini</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OPENAI_API_KEY</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OpenAI-compatible (Ollama, vLLM, LM Studio)</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any model ID</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LLM_BASE_URL (local or private)</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r>
              <a:tr h="38404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deterministic</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no key: everything still works</a:t>
                      </a:r>
                      <a:endParaRPr lang="en-US" sz="1050" dirty="0">
                        <a:latin typeface="Calibri" charset="0"/>
                        <a:ea typeface="Calibri" charset="0"/>
                        <a:cs typeface="Calibri" charset="0"/>
                      </a:endParaRPr>
                    </a:p>
                  </a:txBody>
                  <a:tcPr marL="63500" marR="63500" marT="25400" marB="254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749040"/>
            <a:ext cx="4892040" cy="731520"/>
          </a:xfrm>
          <a:prstGeom prst="rect">
            <a:avLst/>
          </a:prstGeom>
          <a:noFill/>
          <a:ln/>
        </p:spPr>
        <p:txBody>
          <a:bodyPr wrap="square" lIns="0" tIns="0" rIns="0" bIns="0" rtlCol="0" anchor="t"/>
          <a:lstStyle/>
          <a:p>
            <a:pPr indent="0" marL="0">
              <a:buNone/>
            </a:pPr>
            <a:r>
              <a:rPr lang="en-US" sz="1050" dirty="0">
                <a:solidFill>
                  <a:srgbClr val="5E7075"/>
                </a:solidFill>
                <a:latin typeface="Calibri" pitchFamily="34" charset="0"/>
                <a:ea typeface="Calibri" pitchFamily="34" charset="-122"/>
                <a:cs typeface="Calibri" pitchFamily="34" charset="-120"/>
              </a:rPr>
              <a:t>Switch in .env or in the app's Model connection panel (test, then connect). A pasted key stays private to that browser session. Optional Google ADK runtime for the copilot.</a:t>
            </a:r>
            <a:endParaRPr lang="en-US" sz="1050" dirty="0"/>
          </a:p>
        </p:txBody>
      </p:sp>
      <p:sp>
        <p:nvSpPr>
          <p:cNvPr id="6" name="Shape 3"/>
          <p:cNvSpPr/>
          <p:nvPr/>
        </p:nvSpPr>
        <p:spPr>
          <a:xfrm>
            <a:off x="5577840" y="1280160"/>
            <a:ext cx="3108960" cy="1024128"/>
          </a:xfrm>
          <a:prstGeom prst="roundRect">
            <a:avLst>
              <a:gd name="adj" fmla="val 10714"/>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7" name="Shape 4"/>
          <p:cNvSpPr/>
          <p:nvPr/>
        </p:nvSpPr>
        <p:spPr>
          <a:xfrm>
            <a:off x="5715000" y="1408176"/>
            <a:ext cx="384048" cy="384048"/>
          </a:xfrm>
          <a:prstGeom prst="ellipse">
            <a:avLst/>
          </a:prstGeom>
          <a:solidFill>
            <a:srgbClr val="4E5AA8"/>
          </a:solidFill>
          <a:ln w="12700">
            <a:solidFill>
              <a:srgbClr val="4E5AA8"/>
            </a:solidFill>
            <a:prstDash val="solid"/>
          </a:ln>
        </p:spPr>
      </p:sp>
      <p:pic>
        <p:nvPicPr>
          <p:cNvPr id="8" name="Image 0" descr="preencoded.png">    </p:cNvPr>
          <p:cNvPicPr>
            <a:picLocks noChangeAspect="1"/>
          </p:cNvPicPr>
          <p:nvPr/>
        </p:nvPicPr>
        <p:blipFill>
          <a:blip r:embed="rId2"/>
          <a:stretch>
            <a:fillRect/>
          </a:stretch>
        </p:blipFill>
        <p:spPr>
          <a:xfrm>
            <a:off x="5807172" y="1500348"/>
            <a:ext cx="199705" cy="199705"/>
          </a:xfrm>
          <a:prstGeom prst="rect">
            <a:avLst/>
          </a:prstGeom>
        </p:spPr>
      </p:pic>
      <p:sp>
        <p:nvSpPr>
          <p:cNvPr id="9" name="Text 5"/>
          <p:cNvSpPr txBox="1"/>
          <p:nvPr/>
        </p:nvSpPr>
        <p:spPr>
          <a:xfrm>
            <a:off x="6199632" y="1389888"/>
            <a:ext cx="2377440" cy="274320"/>
          </a:xfrm>
          <a:prstGeom prst="rect">
            <a:avLst/>
          </a:prstGeom>
          <a:noFill/>
          <a:ln/>
        </p:spPr>
        <p:txBody>
          <a:bodyPr wrap="square" lIns="0" tIns="0" rIns="0" bIns="0" rtlCol="0" anchor="ctr"/>
          <a:lstStyle/>
          <a:p>
            <a:pPr indent="0" marL="0">
              <a:buNone/>
            </a:pPr>
            <a:r>
              <a:rPr lang="en-US" sz="1250" b="1" dirty="0">
                <a:solidFill>
                  <a:srgbClr val="17262B"/>
                </a:solidFill>
                <a:latin typeface="Calibri" pitchFamily="34" charset="0"/>
                <a:ea typeface="Calibri" pitchFamily="34" charset="-122"/>
                <a:cs typeface="Calibri" pitchFamily="34" charset="-120"/>
              </a:rPr>
              <a:t>Assessment agent</a:t>
            </a:r>
            <a:endParaRPr lang="en-US" sz="1250" dirty="0"/>
          </a:p>
        </p:txBody>
      </p:sp>
      <p:sp>
        <p:nvSpPr>
          <p:cNvPr id="10" name="Text 6"/>
          <p:cNvSpPr txBox="1"/>
          <p:nvPr/>
        </p:nvSpPr>
        <p:spPr>
          <a:xfrm>
            <a:off x="6199632" y="1664208"/>
            <a:ext cx="2395728" cy="603504"/>
          </a:xfrm>
          <a:prstGeom prst="rect">
            <a:avLst/>
          </a:prstGeom>
          <a:noFill/>
          <a:ln/>
        </p:spPr>
        <p:txBody>
          <a:bodyPr wrap="square" lIns="0" tIns="0" rIns="0" bIns="0" rtlCol="0" anchor="t"/>
          <a:lstStyle/>
          <a:p>
            <a:pPr indent="0" marL="0">
              <a:buNone/>
            </a:pPr>
            <a:r>
              <a:rPr lang="en-US" sz="950" dirty="0">
                <a:solidFill>
                  <a:srgbClr val="5E7075"/>
                </a:solidFill>
                <a:latin typeface="Calibri" pitchFamily="34" charset="0"/>
                <a:ea typeface="Calibri" pitchFamily="34" charset="-122"/>
                <a:cs typeface="Calibri" pitchFamily="34" charset="-120"/>
              </a:rPr>
              <a:t>Writes summary, key points, counter-points, next step and uncertainty from a structured evidence pack; output schema-checked.</a:t>
            </a:r>
            <a:endParaRPr lang="en-US" sz="950" dirty="0"/>
          </a:p>
        </p:txBody>
      </p:sp>
      <p:sp>
        <p:nvSpPr>
          <p:cNvPr id="11" name="Shape 7"/>
          <p:cNvSpPr/>
          <p:nvPr/>
        </p:nvSpPr>
        <p:spPr>
          <a:xfrm>
            <a:off x="5577840" y="2423160"/>
            <a:ext cx="3108960" cy="1024128"/>
          </a:xfrm>
          <a:prstGeom prst="roundRect">
            <a:avLst>
              <a:gd name="adj" fmla="val 10714"/>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2" name="Shape 8"/>
          <p:cNvSpPr/>
          <p:nvPr/>
        </p:nvSpPr>
        <p:spPr>
          <a:xfrm>
            <a:off x="5715000" y="2551176"/>
            <a:ext cx="384048" cy="384048"/>
          </a:xfrm>
          <a:prstGeom prst="ellipse">
            <a:avLst/>
          </a:prstGeom>
          <a:solidFill>
            <a:srgbClr val="E07A5F"/>
          </a:solidFill>
          <a:ln w="12700">
            <a:solidFill>
              <a:srgbClr val="E07A5F"/>
            </a:solidFill>
            <a:prstDash val="solid"/>
          </a:ln>
        </p:spPr>
      </p:sp>
      <p:pic>
        <p:nvPicPr>
          <p:cNvPr id="13" name="Image 1" descr="preencoded.png">    </p:cNvPr>
          <p:cNvPicPr>
            <a:picLocks noChangeAspect="1"/>
          </p:cNvPicPr>
          <p:nvPr/>
        </p:nvPicPr>
        <p:blipFill>
          <a:blip r:embed="rId3"/>
          <a:stretch>
            <a:fillRect/>
          </a:stretch>
        </p:blipFill>
        <p:spPr>
          <a:xfrm>
            <a:off x="5807172" y="2643348"/>
            <a:ext cx="199705" cy="199705"/>
          </a:xfrm>
          <a:prstGeom prst="rect">
            <a:avLst/>
          </a:prstGeom>
        </p:spPr>
      </p:pic>
      <p:sp>
        <p:nvSpPr>
          <p:cNvPr id="14" name="Text 9"/>
          <p:cNvSpPr txBox="1"/>
          <p:nvPr/>
        </p:nvSpPr>
        <p:spPr>
          <a:xfrm>
            <a:off x="6199632" y="2532888"/>
            <a:ext cx="2377440" cy="274320"/>
          </a:xfrm>
          <a:prstGeom prst="rect">
            <a:avLst/>
          </a:prstGeom>
          <a:noFill/>
          <a:ln/>
        </p:spPr>
        <p:txBody>
          <a:bodyPr wrap="square" lIns="0" tIns="0" rIns="0" bIns="0" rtlCol="0" anchor="ctr"/>
          <a:lstStyle/>
          <a:p>
            <a:pPr indent="0" marL="0">
              <a:buNone/>
            </a:pPr>
            <a:r>
              <a:rPr lang="en-US" sz="1250" b="1" dirty="0">
                <a:solidFill>
                  <a:srgbClr val="17262B"/>
                </a:solidFill>
                <a:latin typeface="Calibri" pitchFamily="34" charset="0"/>
                <a:ea typeface="Calibri" pitchFamily="34" charset="-122"/>
                <a:cs typeface="Calibri" pitchFamily="34" charset="-120"/>
              </a:rPr>
              <a:t>Copilot agent</a:t>
            </a:r>
            <a:endParaRPr lang="en-US" sz="1250" dirty="0"/>
          </a:p>
        </p:txBody>
      </p:sp>
      <p:sp>
        <p:nvSpPr>
          <p:cNvPr id="15" name="Text 10"/>
          <p:cNvSpPr txBox="1"/>
          <p:nvPr/>
        </p:nvSpPr>
        <p:spPr>
          <a:xfrm>
            <a:off x="6199632" y="2807208"/>
            <a:ext cx="2395728" cy="603504"/>
          </a:xfrm>
          <a:prstGeom prst="rect">
            <a:avLst/>
          </a:prstGeom>
          <a:noFill/>
          <a:ln/>
        </p:spPr>
        <p:txBody>
          <a:bodyPr wrap="square" lIns="0" tIns="0" rIns="0" bIns="0" rtlCol="0" anchor="t"/>
          <a:lstStyle/>
          <a:p>
            <a:pPr indent="0" marL="0">
              <a:buNone/>
            </a:pPr>
            <a:r>
              <a:rPr lang="en-US" sz="950" dirty="0">
                <a:solidFill>
                  <a:srgbClr val="5E7075"/>
                </a:solidFill>
                <a:latin typeface="Calibri" pitchFamily="34" charset="0"/>
                <a:ea typeface="Calibri" pitchFamily="34" charset="-122"/>
                <a:cs typeface="Calibri" pitchFamily="34" charset="-120"/>
              </a:rPr>
              <a:t>Answers questions using 19 allowlisted tools, at most 6 calls per question. Write actions become proposals.</a:t>
            </a:r>
            <a:endParaRPr lang="en-US" sz="950" dirty="0"/>
          </a:p>
        </p:txBody>
      </p:sp>
      <p:sp>
        <p:nvSpPr>
          <p:cNvPr id="16" name="Shape 11"/>
          <p:cNvSpPr/>
          <p:nvPr/>
        </p:nvSpPr>
        <p:spPr>
          <a:xfrm>
            <a:off x="5577840" y="3566160"/>
            <a:ext cx="3108960" cy="1024128"/>
          </a:xfrm>
          <a:prstGeom prst="roundRect">
            <a:avLst>
              <a:gd name="adj" fmla="val 10714"/>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7" name="Shape 12"/>
          <p:cNvSpPr/>
          <p:nvPr/>
        </p:nvSpPr>
        <p:spPr>
          <a:xfrm>
            <a:off x="5715000" y="3694176"/>
            <a:ext cx="384048" cy="384048"/>
          </a:xfrm>
          <a:prstGeom prst="ellipse">
            <a:avLst/>
          </a:prstGeom>
          <a:solidFill>
            <a:srgbClr val="2F5D62"/>
          </a:solidFill>
          <a:ln w="12700">
            <a:solidFill>
              <a:srgbClr val="2F5D62"/>
            </a:solidFill>
            <a:prstDash val="solid"/>
          </a:ln>
        </p:spPr>
      </p:sp>
      <p:pic>
        <p:nvPicPr>
          <p:cNvPr id="18" name="Image 2" descr="preencoded.png">    </p:cNvPr>
          <p:cNvPicPr>
            <a:picLocks noChangeAspect="1"/>
          </p:cNvPicPr>
          <p:nvPr/>
        </p:nvPicPr>
        <p:blipFill>
          <a:blip r:embed="rId4"/>
          <a:stretch>
            <a:fillRect/>
          </a:stretch>
        </p:blipFill>
        <p:spPr>
          <a:xfrm>
            <a:off x="5807172" y="3786348"/>
            <a:ext cx="199705" cy="199705"/>
          </a:xfrm>
          <a:prstGeom prst="rect">
            <a:avLst/>
          </a:prstGeom>
        </p:spPr>
      </p:pic>
      <p:sp>
        <p:nvSpPr>
          <p:cNvPr id="19" name="Text 13"/>
          <p:cNvSpPr txBox="1"/>
          <p:nvPr/>
        </p:nvSpPr>
        <p:spPr>
          <a:xfrm>
            <a:off x="6199632" y="3675888"/>
            <a:ext cx="2377440" cy="274320"/>
          </a:xfrm>
          <a:prstGeom prst="rect">
            <a:avLst/>
          </a:prstGeom>
          <a:noFill/>
          <a:ln/>
        </p:spPr>
        <p:txBody>
          <a:bodyPr wrap="square" lIns="0" tIns="0" rIns="0" bIns="0" rtlCol="0" anchor="ctr"/>
          <a:lstStyle/>
          <a:p>
            <a:pPr indent="0" marL="0">
              <a:buNone/>
            </a:pPr>
            <a:r>
              <a:rPr lang="en-US" sz="1250" b="1" dirty="0">
                <a:solidFill>
                  <a:srgbClr val="17262B"/>
                </a:solidFill>
                <a:latin typeface="Calibri" pitchFamily="34" charset="0"/>
                <a:ea typeface="Calibri" pitchFamily="34" charset="-122"/>
                <a:cs typeface="Calibri" pitchFamily="34" charset="-120"/>
              </a:rPr>
              <a:t>Grounding validator</a:t>
            </a:r>
            <a:endParaRPr lang="en-US" sz="1250" dirty="0"/>
          </a:p>
        </p:txBody>
      </p:sp>
      <p:sp>
        <p:nvSpPr>
          <p:cNvPr id="20" name="Text 14"/>
          <p:cNvSpPr txBox="1"/>
          <p:nvPr/>
        </p:nvSpPr>
        <p:spPr>
          <a:xfrm>
            <a:off x="6199632" y="3950208"/>
            <a:ext cx="2395728" cy="603504"/>
          </a:xfrm>
          <a:prstGeom prst="rect">
            <a:avLst/>
          </a:prstGeom>
          <a:noFill/>
          <a:ln/>
        </p:spPr>
        <p:txBody>
          <a:bodyPr wrap="square" lIns="0" tIns="0" rIns="0" bIns="0" rtlCol="0" anchor="t"/>
          <a:lstStyle/>
          <a:p>
            <a:pPr indent="0" marL="0">
              <a:buNone/>
            </a:pPr>
            <a:r>
              <a:rPr lang="en-US" sz="950" dirty="0">
                <a:solidFill>
                  <a:srgbClr val="5E7075"/>
                </a:solidFill>
                <a:latin typeface="Calibri" pitchFamily="34" charset="0"/>
                <a:ea typeface="Calibri" pitchFamily="34" charset="-122"/>
                <a:cs typeface="Calibri" pitchFamily="34" charset="-120"/>
              </a:rPr>
              <a:t>Checks every number, case ID and field; blocks fraud claims. One retry, then a deterministic fallback.</a:t>
            </a:r>
            <a:endParaRPr lang="en-US" sz="950" dirty="0"/>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Technical architecture</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Python end to end, layered so production is an evolution rather than a rewrite</a:t>
            </a:r>
            <a:endParaRPr lang="en-US" sz="1300" dirty="0"/>
          </a:p>
        </p:txBody>
      </p:sp>
      <p:sp>
        <p:nvSpPr>
          <p:cNvPr id="4" name="Shape 2"/>
          <p:cNvSpPr/>
          <p:nvPr/>
        </p:nvSpPr>
        <p:spPr>
          <a:xfrm>
            <a:off x="457200" y="1234440"/>
            <a:ext cx="6172200" cy="713232"/>
          </a:xfrm>
          <a:prstGeom prst="roundRect">
            <a:avLst>
              <a:gd name="adj" fmla="val 12821"/>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5" name="Shape 3"/>
          <p:cNvSpPr/>
          <p:nvPr/>
        </p:nvSpPr>
        <p:spPr>
          <a:xfrm>
            <a:off x="548640" y="1325880"/>
            <a:ext cx="1143000" cy="530352"/>
          </a:xfrm>
          <a:prstGeom prst="roundRect">
            <a:avLst>
              <a:gd name="adj" fmla="val 13793"/>
            </a:avLst>
          </a:prstGeom>
          <a:solidFill>
            <a:srgbClr val="E07A5F"/>
          </a:solidFill>
          <a:ln w="12700">
            <a:solidFill>
              <a:srgbClr val="E07A5F"/>
            </a:solidFill>
            <a:prstDash val="solid"/>
          </a:ln>
        </p:spPr>
      </p:sp>
      <p:sp>
        <p:nvSpPr>
          <p:cNvPr id="6" name="Text 4"/>
          <p:cNvSpPr txBox="1"/>
          <p:nvPr/>
        </p:nvSpPr>
        <p:spPr>
          <a:xfrm>
            <a:off x="548640" y="1325880"/>
            <a:ext cx="1143000" cy="530352"/>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Presentation</a:t>
            </a:r>
            <a:endParaRPr lang="en-US" sz="1050" dirty="0"/>
          </a:p>
        </p:txBody>
      </p:sp>
      <p:sp>
        <p:nvSpPr>
          <p:cNvPr id="7" name="Text 5"/>
          <p:cNvSpPr txBox="1"/>
          <p:nvPr/>
        </p:nvSpPr>
        <p:spPr>
          <a:xfrm>
            <a:off x="1783080" y="1289304"/>
            <a:ext cx="4754880" cy="603504"/>
          </a:xfrm>
          <a:prstGeom prst="rect">
            <a:avLst/>
          </a:prstGeom>
          <a:noFill/>
          <a:ln/>
        </p:spPr>
        <p:txBody>
          <a:bodyPr wrap="square" lIns="0" tIns="0" rIns="0" bIns="0" rtlCol="0" anchor="ctr"/>
          <a:lstStyle/>
          <a:p>
            <a:pPr indent="0" marL="0">
              <a:buNone/>
            </a:pPr>
            <a:r>
              <a:rPr lang="en-US" sz="950" dirty="0">
                <a:solidFill>
                  <a:srgbClr val="17262B"/>
                </a:solidFill>
                <a:latin typeface="Calibri" pitchFamily="34" charset="0"/>
                <a:ea typeface="Calibri" pitchFamily="34" charset="-122"/>
                <a:cs typeface="Calibri" pitchFamily="34" charset="-120"/>
              </a:rPr>
              <a:t>Streamlit app: SQL-paged queue · Overview (Altair, Plotly) · Analysis · AI evaluation · Data &amp; rules · copilot panel · per-session model connection</a:t>
            </a:r>
            <a:endParaRPr lang="en-US" sz="950" dirty="0"/>
          </a:p>
        </p:txBody>
      </p:sp>
      <p:sp>
        <p:nvSpPr>
          <p:cNvPr id="8" name="Shape 6"/>
          <p:cNvSpPr/>
          <p:nvPr/>
        </p:nvSpPr>
        <p:spPr>
          <a:xfrm>
            <a:off x="457200" y="2039112"/>
            <a:ext cx="6172200" cy="713232"/>
          </a:xfrm>
          <a:prstGeom prst="roundRect">
            <a:avLst>
              <a:gd name="adj" fmla="val 12821"/>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9" name="Shape 7"/>
          <p:cNvSpPr/>
          <p:nvPr/>
        </p:nvSpPr>
        <p:spPr>
          <a:xfrm>
            <a:off x="548640" y="2130552"/>
            <a:ext cx="1143000" cy="530352"/>
          </a:xfrm>
          <a:prstGeom prst="roundRect">
            <a:avLst>
              <a:gd name="adj" fmla="val 13793"/>
            </a:avLst>
          </a:prstGeom>
          <a:solidFill>
            <a:srgbClr val="4E5AA8"/>
          </a:solidFill>
          <a:ln w="12700">
            <a:solidFill>
              <a:srgbClr val="4E5AA8"/>
            </a:solidFill>
            <a:prstDash val="solid"/>
          </a:ln>
        </p:spPr>
      </p:sp>
      <p:sp>
        <p:nvSpPr>
          <p:cNvPr id="10" name="Text 8"/>
          <p:cNvSpPr txBox="1"/>
          <p:nvPr/>
        </p:nvSpPr>
        <p:spPr>
          <a:xfrm>
            <a:off x="548640" y="2130552"/>
            <a:ext cx="1143000" cy="530352"/>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Application service</a:t>
            </a:r>
            <a:endParaRPr lang="en-US" sz="1050" dirty="0"/>
          </a:p>
        </p:txBody>
      </p:sp>
      <p:sp>
        <p:nvSpPr>
          <p:cNvPr id="11" name="Text 9"/>
          <p:cNvSpPr txBox="1"/>
          <p:nvPr/>
        </p:nvSpPr>
        <p:spPr>
          <a:xfrm>
            <a:off x="1783080" y="2093976"/>
            <a:ext cx="4754880" cy="603504"/>
          </a:xfrm>
          <a:prstGeom prst="rect">
            <a:avLst/>
          </a:prstGeom>
          <a:noFill/>
          <a:ln/>
        </p:spPr>
        <p:txBody>
          <a:bodyPr wrap="square" lIns="0" tIns="0" rIns="0" bIns="0" rtlCol="0" anchor="ctr"/>
          <a:lstStyle/>
          <a:p>
            <a:pPr indent="0" marL="0">
              <a:buNone/>
            </a:pPr>
            <a:r>
              <a:rPr lang="en-US" sz="950" dirty="0">
                <a:solidFill>
                  <a:srgbClr val="17262B"/>
                </a:solidFill>
                <a:latin typeface="Calibri" pitchFamily="34" charset="0"/>
                <a:ea typeface="Calibri" pitchFamily="34" charset="-122"/>
                <a:cs typeface="Calibri" pitchFamily="34" charset="-120"/>
              </a:rPr>
              <a:t>CockpitService: import and validation · assessment cache and versioning · workflow (accept, reject, notes, status) · SQL aggregates for charts</a:t>
            </a:r>
            <a:endParaRPr lang="en-US" sz="950" dirty="0"/>
          </a:p>
        </p:txBody>
      </p:sp>
      <p:sp>
        <p:nvSpPr>
          <p:cNvPr id="12" name="Shape 10"/>
          <p:cNvSpPr/>
          <p:nvPr/>
        </p:nvSpPr>
        <p:spPr>
          <a:xfrm>
            <a:off x="457200" y="2843784"/>
            <a:ext cx="3017520" cy="868680"/>
          </a:xfrm>
          <a:prstGeom prst="roundRect">
            <a:avLst>
              <a:gd name="adj" fmla="val 10526"/>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3" name="Shape 11"/>
          <p:cNvSpPr/>
          <p:nvPr/>
        </p:nvSpPr>
        <p:spPr>
          <a:xfrm>
            <a:off x="548640" y="2935224"/>
            <a:ext cx="868680" cy="685800"/>
          </a:xfrm>
          <a:prstGeom prst="roundRect">
            <a:avLst>
              <a:gd name="adj" fmla="val 10667"/>
            </a:avLst>
          </a:prstGeom>
          <a:solidFill>
            <a:srgbClr val="2F5D62"/>
          </a:solidFill>
          <a:ln w="12700">
            <a:solidFill>
              <a:srgbClr val="2F5D62"/>
            </a:solidFill>
            <a:prstDash val="solid"/>
          </a:ln>
        </p:spPr>
      </p:sp>
      <p:sp>
        <p:nvSpPr>
          <p:cNvPr id="14" name="Text 12"/>
          <p:cNvSpPr txBox="1"/>
          <p:nvPr/>
        </p:nvSpPr>
        <p:spPr>
          <a:xfrm>
            <a:off x="548640" y="2935224"/>
            <a:ext cx="868680" cy="68580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Analytics</a:t>
            </a:r>
            <a:endParaRPr lang="en-US" sz="1050" dirty="0"/>
          </a:p>
        </p:txBody>
      </p:sp>
      <p:sp>
        <p:nvSpPr>
          <p:cNvPr id="15" name="Text 13"/>
          <p:cNvSpPr txBox="1"/>
          <p:nvPr/>
        </p:nvSpPr>
        <p:spPr>
          <a:xfrm>
            <a:off x="1508760" y="2898648"/>
            <a:ext cx="1874520" cy="758952"/>
          </a:xfrm>
          <a:prstGeom prst="rect">
            <a:avLst/>
          </a:prstGeom>
          <a:noFill/>
          <a:ln/>
        </p:spPr>
        <p:txBody>
          <a:bodyPr wrap="square" lIns="0" tIns="0" rIns="0" bIns="0" rtlCol="0" anchor="ctr"/>
          <a:lstStyle/>
          <a:p>
            <a:pPr indent="0" marL="0">
              <a:buNone/>
            </a:pPr>
            <a:r>
              <a:rPr lang="en-US" sz="950" dirty="0">
                <a:solidFill>
                  <a:srgbClr val="17262B"/>
                </a:solidFill>
                <a:latin typeface="Calibri" pitchFamily="34" charset="0"/>
                <a:ea typeface="Calibri" pitchFamily="34" charset="-122"/>
                <a:cs typeface="Calibri" pitchFamily="34" charset="-120"/>
              </a:rPr>
              <a:t>Rules engine (ruleset v1.1, JSON) · anomaly cross-check (IF, LOF, PCA) · peer cohorts · similarity index · evaluation suite (140 checks)</a:t>
            </a:r>
            <a:endParaRPr lang="en-US" sz="950" dirty="0"/>
          </a:p>
        </p:txBody>
      </p:sp>
      <p:sp>
        <p:nvSpPr>
          <p:cNvPr id="16" name="Shape 14"/>
          <p:cNvSpPr/>
          <p:nvPr/>
        </p:nvSpPr>
        <p:spPr>
          <a:xfrm>
            <a:off x="3611880" y="2843784"/>
            <a:ext cx="3017520" cy="868680"/>
          </a:xfrm>
          <a:prstGeom prst="roundRect">
            <a:avLst>
              <a:gd name="adj" fmla="val 10526"/>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7" name="Shape 15"/>
          <p:cNvSpPr/>
          <p:nvPr/>
        </p:nvSpPr>
        <p:spPr>
          <a:xfrm>
            <a:off x="3703320" y="2935224"/>
            <a:ext cx="868680" cy="685800"/>
          </a:xfrm>
          <a:prstGeom prst="roundRect">
            <a:avLst>
              <a:gd name="adj" fmla="val 10667"/>
            </a:avLst>
          </a:prstGeom>
          <a:solidFill>
            <a:srgbClr val="3F7D4E"/>
          </a:solidFill>
          <a:ln w="12700">
            <a:solidFill>
              <a:srgbClr val="3F7D4E"/>
            </a:solidFill>
            <a:prstDash val="solid"/>
          </a:ln>
        </p:spPr>
      </p:sp>
      <p:sp>
        <p:nvSpPr>
          <p:cNvPr id="18" name="Text 16"/>
          <p:cNvSpPr txBox="1"/>
          <p:nvPr/>
        </p:nvSpPr>
        <p:spPr>
          <a:xfrm>
            <a:off x="3703320" y="2935224"/>
            <a:ext cx="868680" cy="68580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layer</a:t>
            </a:r>
            <a:endParaRPr lang="en-US" sz="1050" dirty="0"/>
          </a:p>
        </p:txBody>
      </p:sp>
      <p:sp>
        <p:nvSpPr>
          <p:cNvPr id="19" name="Text 17"/>
          <p:cNvSpPr txBox="1"/>
          <p:nvPr/>
        </p:nvSpPr>
        <p:spPr>
          <a:xfrm>
            <a:off x="4663440" y="2898648"/>
            <a:ext cx="1874520" cy="758952"/>
          </a:xfrm>
          <a:prstGeom prst="rect">
            <a:avLst/>
          </a:prstGeom>
          <a:noFill/>
          <a:ln/>
        </p:spPr>
        <p:txBody>
          <a:bodyPr wrap="square" lIns="0" tIns="0" rIns="0" bIns="0" rtlCol="0" anchor="ctr"/>
          <a:lstStyle/>
          <a:p>
            <a:pPr indent="0" marL="0">
              <a:buNone/>
            </a:pPr>
            <a:r>
              <a:rPr lang="en-US" sz="950" dirty="0">
                <a:solidFill>
                  <a:srgbClr val="17262B"/>
                </a:solidFill>
                <a:latin typeface="Calibri" pitchFamily="34" charset="0"/>
                <a:ea typeface="Calibri" pitchFamily="34" charset="-122"/>
                <a:cs typeface="Calibri" pitchFamily="34" charset="-120"/>
              </a:rPr>
              <a:t>Assessment and copilot agents · grounding validator · playbook retrieval (BM25, 9 playbooks) · provider adapters</a:t>
            </a:r>
            <a:endParaRPr lang="en-US" sz="950" dirty="0"/>
          </a:p>
        </p:txBody>
      </p:sp>
      <p:sp>
        <p:nvSpPr>
          <p:cNvPr id="20" name="Shape 18"/>
          <p:cNvSpPr/>
          <p:nvPr/>
        </p:nvSpPr>
        <p:spPr>
          <a:xfrm>
            <a:off x="457200" y="3803904"/>
            <a:ext cx="6172200" cy="868680"/>
          </a:xfrm>
          <a:prstGeom prst="roundRect">
            <a:avLst>
              <a:gd name="adj" fmla="val 10526"/>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21" name="Shape 19"/>
          <p:cNvSpPr/>
          <p:nvPr/>
        </p:nvSpPr>
        <p:spPr>
          <a:xfrm>
            <a:off x="548640" y="3895344"/>
            <a:ext cx="1143000" cy="685800"/>
          </a:xfrm>
          <a:prstGeom prst="roundRect">
            <a:avLst>
              <a:gd name="adj" fmla="val 10667"/>
            </a:avLst>
          </a:prstGeom>
          <a:solidFill>
            <a:srgbClr val="B7791F"/>
          </a:solidFill>
          <a:ln w="12700">
            <a:solidFill>
              <a:srgbClr val="B7791F"/>
            </a:solidFill>
            <a:prstDash val="solid"/>
          </a:ln>
        </p:spPr>
      </p:sp>
      <p:sp>
        <p:nvSpPr>
          <p:cNvPr id="22" name="Text 20"/>
          <p:cNvSpPr txBox="1"/>
          <p:nvPr/>
        </p:nvSpPr>
        <p:spPr>
          <a:xfrm>
            <a:off x="548640" y="3895344"/>
            <a:ext cx="1143000" cy="685800"/>
          </a:xfrm>
          <a:prstGeom prst="rect">
            <a:avLst/>
          </a:prstGeom>
          <a:noFill/>
          <a:ln/>
        </p:spPr>
        <p:txBody>
          <a:bodyPr wrap="square" lIns="25400" tIns="25400" rIns="25400" bIns="2540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Persistence</a:t>
            </a:r>
            <a:endParaRPr lang="en-US" sz="1050" dirty="0"/>
          </a:p>
        </p:txBody>
      </p:sp>
      <p:sp>
        <p:nvSpPr>
          <p:cNvPr id="23" name="Text 21"/>
          <p:cNvSpPr txBox="1"/>
          <p:nvPr/>
        </p:nvSpPr>
        <p:spPr>
          <a:xfrm>
            <a:off x="1783080" y="3858768"/>
            <a:ext cx="4754880" cy="758952"/>
          </a:xfrm>
          <a:prstGeom prst="rect">
            <a:avLst/>
          </a:prstGeom>
          <a:noFill/>
          <a:ln/>
        </p:spPr>
        <p:txBody>
          <a:bodyPr wrap="square" lIns="0" tIns="0" rIns="0" bIns="0" rtlCol="0" anchor="ctr"/>
          <a:lstStyle/>
          <a:p>
            <a:pPr indent="0" marL="0">
              <a:buNone/>
            </a:pPr>
            <a:r>
              <a:rPr lang="en-US" sz="950" dirty="0">
                <a:solidFill>
                  <a:srgbClr val="17262B"/>
                </a:solidFill>
                <a:latin typeface="Calibri" pitchFamily="34" charset="0"/>
                <a:ea typeface="Calibri" pitchFamily="34" charset="-122"/>
                <a:cs typeface="Calibri" pitchFamily="34" charset="-120"/>
              </a:rPr>
              <a:t>SQLite, schema ready for PostgreSQL: cases · assessments (versioned) · queue index and signals · decisions · notes · status history · agent runs and tool calls · knowledge · evaluations</a:t>
            </a:r>
            <a:endParaRPr lang="en-US" sz="950" dirty="0"/>
          </a:p>
        </p:txBody>
      </p:sp>
      <p:sp>
        <p:nvSpPr>
          <p:cNvPr id="24" name="Shape 22"/>
          <p:cNvSpPr/>
          <p:nvPr/>
        </p:nvSpPr>
        <p:spPr>
          <a:xfrm>
            <a:off x="6812280" y="1234440"/>
            <a:ext cx="1874520" cy="3438144"/>
          </a:xfrm>
          <a:prstGeom prst="roundRect">
            <a:avLst>
              <a:gd name="adj" fmla="val 5854"/>
            </a:avLst>
          </a:prstGeom>
          <a:solidFill>
            <a:srgbClr val="E3F1EE"/>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25" name="Text 23"/>
          <p:cNvSpPr txBox="1"/>
          <p:nvPr/>
        </p:nvSpPr>
        <p:spPr>
          <a:xfrm>
            <a:off x="6949440" y="1325880"/>
            <a:ext cx="1645920" cy="3291840"/>
          </a:xfrm>
          <a:prstGeom prst="rect">
            <a:avLst/>
          </a:prstGeom>
          <a:noFill/>
          <a:ln/>
        </p:spPr>
        <p:txBody>
          <a:bodyPr wrap="square" lIns="0" tIns="0" rIns="0" bIns="0" rtlCol="0" anchor="t"/>
          <a:lstStyle/>
          <a:p>
            <a:pPr indent="0" marL="0">
              <a:buNone/>
            </a:pPr>
            <a:r>
              <a:rPr lang="en-US" sz="950" b="1" dirty="0">
                <a:solidFill>
                  <a:srgbClr val="2F5D62"/>
                </a:solidFill>
                <a:latin typeface="Calibri" pitchFamily="34" charset="0"/>
                <a:ea typeface="Calibri" pitchFamily="34" charset="-122"/>
                <a:cs typeface="Calibri" pitchFamily="34" charset="-120"/>
              </a:rPr>
              <a:t>Stack</a:t>
            </a:r>
            <a:endParaRPr lang="en-US" sz="950" dirty="0"/>
          </a:p>
          <a:p>
            <a:pPr indent="0" marL="0">
              <a:buNone/>
            </a:pPr>
            <a:r>
              <a:rPr lang="en-US" sz="950" dirty="0">
                <a:solidFill>
                  <a:srgbClr val="17262B"/>
                </a:solidFill>
                <a:latin typeface="Calibri" pitchFamily="34" charset="0"/>
                <a:ea typeface="Calibri" pitchFamily="34" charset="-122"/>
                <a:cs typeface="Calibri" pitchFamily="34" charset="-120"/>
              </a:rPr>
              <a:t>Python 3.12 · pandas · NumPy · SciPy · scikit-learn · Streamlit · Altair · Plotly · SQLite · requests</a:t>
            </a:r>
            <a:endParaRPr lang="en-US" sz="950" dirty="0"/>
          </a:p>
          <a:p>
            <a:pPr indent="0" marL="0">
              <a:buNone/>
            </a:pPr>
            <a:r>
              <a:rPr lang="en-US" sz="500" dirty="0">
                <a:solidFill>
                  <a:srgbClr val="17262B"/>
                </a:solidFill>
                <a:latin typeface="Calibri" pitchFamily="34" charset="0"/>
                <a:ea typeface="Calibri" pitchFamily="34" charset="-122"/>
                <a:cs typeface="Calibri" pitchFamily="34" charset="-120"/>
              </a:rPr>
              <a:t> </a:t>
            </a:r>
            <a:endParaRPr lang="en-US" sz="950" dirty="0"/>
          </a:p>
          <a:p>
            <a:pPr indent="0" marL="0">
              <a:buNone/>
            </a:pPr>
            <a:r>
              <a:rPr lang="en-US" sz="950" b="1" dirty="0">
                <a:solidFill>
                  <a:srgbClr val="2F5D62"/>
                </a:solidFill>
                <a:latin typeface="Calibri" pitchFamily="34" charset="0"/>
                <a:ea typeface="Calibri" pitchFamily="34" charset="-122"/>
                <a:cs typeface="Calibri" pitchFamily="34" charset="-120"/>
              </a:rPr>
              <a:t>Operations</a:t>
            </a:r>
            <a:endParaRPr lang="en-US" sz="950" dirty="0"/>
          </a:p>
          <a:p>
            <a:pPr indent="0" marL="0">
              <a:buNone/>
            </a:pPr>
            <a:r>
              <a:rPr lang="en-US" sz="950" dirty="0">
                <a:solidFill>
                  <a:srgbClr val="17262B"/>
                </a:solidFill>
                <a:latin typeface="Calibri" pitchFamily="34" charset="0"/>
                <a:ea typeface="Calibri" pitchFamily="34" charset="-122"/>
                <a:cs typeface="Calibri" pitchFamily="34" charset="-120"/>
              </a:rPr>
              <a:t>Docker (non-root) · GitHub Actions CI · overnight batch job · optional MCP server</a:t>
            </a:r>
            <a:endParaRPr lang="en-US" sz="950" dirty="0"/>
          </a:p>
          <a:p>
            <a:pPr indent="0" marL="0">
              <a:buNone/>
            </a:pPr>
            <a:r>
              <a:rPr lang="en-US" sz="500" dirty="0">
                <a:solidFill>
                  <a:srgbClr val="17262B"/>
                </a:solidFill>
                <a:latin typeface="Calibri" pitchFamily="34" charset="0"/>
                <a:ea typeface="Calibri" pitchFamily="34" charset="-122"/>
                <a:cs typeface="Calibri" pitchFamily="34" charset="-120"/>
              </a:rPr>
              <a:t> </a:t>
            </a:r>
            <a:endParaRPr lang="en-US" sz="950" dirty="0"/>
          </a:p>
          <a:p>
            <a:pPr indent="0" marL="0">
              <a:buNone/>
            </a:pPr>
            <a:r>
              <a:rPr lang="en-US" sz="950" b="1" dirty="0">
                <a:solidFill>
                  <a:srgbClr val="2F5D62"/>
                </a:solidFill>
                <a:latin typeface="Calibri" pitchFamily="34" charset="0"/>
                <a:ea typeface="Calibri" pitchFamily="34" charset="-122"/>
                <a:cs typeface="Calibri" pitchFamily="34" charset="-120"/>
              </a:rPr>
              <a:t>Measured</a:t>
            </a:r>
            <a:endParaRPr lang="en-US" sz="950" dirty="0"/>
          </a:p>
          <a:p>
            <a:pPr indent="0" marL="0">
              <a:buNone/>
            </a:pPr>
            <a:r>
              <a:rPr lang="en-US" sz="950" dirty="0">
                <a:solidFill>
                  <a:srgbClr val="17262B"/>
                </a:solidFill>
                <a:latin typeface="Calibri" pitchFamily="34" charset="0"/>
                <a:ea typeface="Calibri" pitchFamily="34" charset="-122"/>
                <a:cs typeface="Calibri" pitchFamily="34" charset="-120"/>
              </a:rPr>
              <a:t>1.2 s cold start · 5 ms per page at 100,000 cases · 13 ms reject and re-score</a:t>
            </a:r>
            <a:endParaRPr lang="en-US" sz="950" dirty="0"/>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Keeping the investigator in control</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How investigators trust, validate and override the AI</a:t>
            </a:r>
            <a:endParaRPr lang="en-US" sz="1300" dirty="0"/>
          </a:p>
        </p:txBody>
      </p:sp>
      <p:sp>
        <p:nvSpPr>
          <p:cNvPr id="4" name="Shape 2"/>
          <p:cNvSpPr/>
          <p:nvPr/>
        </p:nvSpPr>
        <p:spPr>
          <a:xfrm>
            <a:off x="457200" y="1280160"/>
            <a:ext cx="2606040" cy="1554480"/>
          </a:xfrm>
          <a:prstGeom prst="roundRect">
            <a:avLst>
              <a:gd name="adj" fmla="val 7059"/>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5" name="Shape 3"/>
          <p:cNvSpPr/>
          <p:nvPr/>
        </p:nvSpPr>
        <p:spPr>
          <a:xfrm>
            <a:off x="640080" y="1463040"/>
            <a:ext cx="457200" cy="457200"/>
          </a:xfrm>
          <a:prstGeom prst="ellipse">
            <a:avLst/>
          </a:prstGeom>
          <a:solidFill>
            <a:srgbClr val="2F5D62"/>
          </a:solidFill>
          <a:ln w="12700">
            <a:solidFill>
              <a:srgbClr val="2F5D62"/>
            </a:solidFill>
            <a:prstDash val="solid"/>
          </a:ln>
        </p:spPr>
      </p:sp>
      <p:pic>
        <p:nvPicPr>
          <p:cNvPr id="6" name="Image 0" descr="preencoded.png">    </p:cNvPr>
          <p:cNvPicPr>
            <a:picLocks noChangeAspect="1"/>
          </p:cNvPicPr>
          <p:nvPr/>
        </p:nvPicPr>
        <p:blipFill>
          <a:blip r:embed="rId2"/>
          <a:stretch>
            <a:fillRect/>
          </a:stretch>
        </p:blipFill>
        <p:spPr>
          <a:xfrm>
            <a:off x="749808" y="1572768"/>
            <a:ext cx="237744" cy="237744"/>
          </a:xfrm>
          <a:prstGeom prst="rect">
            <a:avLst/>
          </a:prstGeom>
        </p:spPr>
      </p:pic>
      <p:sp>
        <p:nvSpPr>
          <p:cNvPr id="7" name="Text 4"/>
          <p:cNvSpPr txBox="1"/>
          <p:nvPr/>
        </p:nvSpPr>
        <p:spPr>
          <a:xfrm>
            <a:off x="1207008" y="1481328"/>
            <a:ext cx="1737360" cy="420624"/>
          </a:xfrm>
          <a:prstGeom prst="rect">
            <a:avLst/>
          </a:prstGeom>
          <a:noFill/>
          <a:ln/>
        </p:spPr>
        <p:txBody>
          <a:bodyPr wrap="square" lIns="0" tIns="0" rIns="0" bIns="0" rtlCol="0" anchor="ctr"/>
          <a:lstStyle/>
          <a:p>
            <a:pPr indent="0" marL="0">
              <a:buNone/>
            </a:pPr>
            <a:r>
              <a:rPr lang="en-US" sz="1350" b="1" dirty="0">
                <a:solidFill>
                  <a:srgbClr val="17262B"/>
                </a:solidFill>
                <a:latin typeface="Calibri" pitchFamily="34" charset="0"/>
                <a:ea typeface="Calibri" pitchFamily="34" charset="-122"/>
                <a:cs typeface="Calibri" pitchFamily="34" charset="-120"/>
              </a:rPr>
              <a:t>Grounded answers</a:t>
            </a:r>
            <a:endParaRPr lang="en-US" sz="1350" dirty="0"/>
          </a:p>
        </p:txBody>
      </p:sp>
      <p:sp>
        <p:nvSpPr>
          <p:cNvPr id="8" name="Text 5"/>
          <p:cNvSpPr txBox="1"/>
          <p:nvPr/>
        </p:nvSpPr>
        <p:spPr>
          <a:xfrm>
            <a:off x="640080" y="2029968"/>
            <a:ext cx="2286000" cy="731520"/>
          </a:xfrm>
          <a:prstGeom prst="rect">
            <a:avLst/>
          </a:prstGeom>
          <a:noFill/>
          <a:ln/>
        </p:spPr>
        <p:txBody>
          <a:bodyPr wrap="square" lIns="0" tIns="0" rIns="0" bIns="0" rtlCol="0" anchor="t"/>
          <a:lstStyle/>
          <a:p>
            <a:pPr indent="0" marL="0">
              <a:buNone/>
            </a:pPr>
            <a:r>
              <a:rPr lang="en-US" sz="1200" dirty="0">
                <a:solidFill>
                  <a:srgbClr val="5E7075"/>
                </a:solidFill>
                <a:latin typeface="Calibri" pitchFamily="34" charset="0"/>
                <a:ea typeface="Calibri" pitchFamily="34" charset="-122"/>
                <a:cs typeface="Calibri" pitchFamily="34" charset="-120"/>
              </a:rPr>
              <a:t>Every number, case ID and field in an AI answer is checked against the data first.</a:t>
            </a:r>
            <a:endParaRPr lang="en-US" sz="1200" dirty="0"/>
          </a:p>
        </p:txBody>
      </p:sp>
      <p:sp>
        <p:nvSpPr>
          <p:cNvPr id="9" name="Shape 6"/>
          <p:cNvSpPr/>
          <p:nvPr/>
        </p:nvSpPr>
        <p:spPr>
          <a:xfrm>
            <a:off x="3246120" y="1280160"/>
            <a:ext cx="2606040" cy="1554480"/>
          </a:xfrm>
          <a:prstGeom prst="roundRect">
            <a:avLst>
              <a:gd name="adj" fmla="val 7059"/>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0" name="Shape 7"/>
          <p:cNvSpPr/>
          <p:nvPr/>
        </p:nvSpPr>
        <p:spPr>
          <a:xfrm>
            <a:off x="3429000" y="1463040"/>
            <a:ext cx="457200" cy="457200"/>
          </a:xfrm>
          <a:prstGeom prst="ellipse">
            <a:avLst/>
          </a:prstGeom>
          <a:solidFill>
            <a:srgbClr val="4E5AA8"/>
          </a:solidFill>
          <a:ln w="12700">
            <a:solidFill>
              <a:srgbClr val="4E5AA8"/>
            </a:solidFill>
            <a:prstDash val="solid"/>
          </a:ln>
        </p:spPr>
      </p:sp>
      <p:pic>
        <p:nvPicPr>
          <p:cNvPr id="11" name="Image 1" descr="preencoded.png">    </p:cNvPr>
          <p:cNvPicPr>
            <a:picLocks noChangeAspect="1"/>
          </p:cNvPicPr>
          <p:nvPr/>
        </p:nvPicPr>
        <p:blipFill>
          <a:blip r:embed="rId3"/>
          <a:stretch>
            <a:fillRect/>
          </a:stretch>
        </p:blipFill>
        <p:spPr>
          <a:xfrm>
            <a:off x="3538728" y="1572768"/>
            <a:ext cx="237744" cy="237744"/>
          </a:xfrm>
          <a:prstGeom prst="rect">
            <a:avLst/>
          </a:prstGeom>
        </p:spPr>
      </p:pic>
      <p:sp>
        <p:nvSpPr>
          <p:cNvPr id="12" name="Text 8"/>
          <p:cNvSpPr txBox="1"/>
          <p:nvPr/>
        </p:nvSpPr>
        <p:spPr>
          <a:xfrm>
            <a:off x="3995928" y="1481328"/>
            <a:ext cx="1737360" cy="420624"/>
          </a:xfrm>
          <a:prstGeom prst="rect">
            <a:avLst/>
          </a:prstGeom>
          <a:noFill/>
          <a:ln/>
        </p:spPr>
        <p:txBody>
          <a:bodyPr wrap="square" lIns="0" tIns="0" rIns="0" bIns="0" rtlCol="0" anchor="ctr"/>
          <a:lstStyle/>
          <a:p>
            <a:pPr indent="0" marL="0">
              <a:buNone/>
            </a:pPr>
            <a:r>
              <a:rPr lang="en-US" sz="1350" b="1" dirty="0">
                <a:solidFill>
                  <a:srgbClr val="17262B"/>
                </a:solidFill>
                <a:latin typeface="Calibri" pitchFamily="34" charset="0"/>
                <a:ea typeface="Calibri" pitchFamily="34" charset="-122"/>
                <a:cs typeface="Calibri" pitchFamily="34" charset="-120"/>
              </a:rPr>
              <a:t>Proposals, not actions</a:t>
            </a:r>
            <a:endParaRPr lang="en-US" sz="1350" dirty="0"/>
          </a:p>
        </p:txBody>
      </p:sp>
      <p:sp>
        <p:nvSpPr>
          <p:cNvPr id="13" name="Text 9"/>
          <p:cNvSpPr txBox="1"/>
          <p:nvPr/>
        </p:nvSpPr>
        <p:spPr>
          <a:xfrm>
            <a:off x="3429000" y="2029968"/>
            <a:ext cx="2286000" cy="731520"/>
          </a:xfrm>
          <a:prstGeom prst="rect">
            <a:avLst/>
          </a:prstGeom>
          <a:noFill/>
          <a:ln/>
        </p:spPr>
        <p:txBody>
          <a:bodyPr wrap="square" lIns="0" tIns="0" rIns="0" bIns="0" rtlCol="0" anchor="t"/>
          <a:lstStyle/>
          <a:p>
            <a:pPr indent="0" marL="0">
              <a:buNone/>
            </a:pPr>
            <a:r>
              <a:rPr lang="en-US" sz="1200" dirty="0">
                <a:solidFill>
                  <a:srgbClr val="5E7075"/>
                </a:solidFill>
                <a:latin typeface="Calibri" pitchFamily="34" charset="0"/>
                <a:ea typeface="Calibri" pitchFamily="34" charset="-122"/>
                <a:cs typeface="Calibri" pitchFamily="34" charset="-120"/>
              </a:rPr>
              <a:t>The copilot can draft a note or status; only the investigator's click applies it.</a:t>
            </a:r>
            <a:endParaRPr lang="en-US" sz="1200" dirty="0"/>
          </a:p>
        </p:txBody>
      </p:sp>
      <p:sp>
        <p:nvSpPr>
          <p:cNvPr id="14" name="Shape 10"/>
          <p:cNvSpPr/>
          <p:nvPr/>
        </p:nvSpPr>
        <p:spPr>
          <a:xfrm>
            <a:off x="6035040" y="1280160"/>
            <a:ext cx="2606040" cy="1554480"/>
          </a:xfrm>
          <a:prstGeom prst="roundRect">
            <a:avLst>
              <a:gd name="adj" fmla="val 7059"/>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15" name="Shape 11"/>
          <p:cNvSpPr/>
          <p:nvPr/>
        </p:nvSpPr>
        <p:spPr>
          <a:xfrm>
            <a:off x="6217920" y="1463040"/>
            <a:ext cx="457200" cy="457200"/>
          </a:xfrm>
          <a:prstGeom prst="ellipse">
            <a:avLst/>
          </a:prstGeom>
          <a:solidFill>
            <a:srgbClr val="E07A5F"/>
          </a:solidFill>
          <a:ln w="12700">
            <a:solidFill>
              <a:srgbClr val="E07A5F"/>
            </a:solidFill>
            <a:prstDash val="solid"/>
          </a:ln>
        </p:spPr>
      </p:sp>
      <p:pic>
        <p:nvPicPr>
          <p:cNvPr id="16" name="Image 2" descr="preencoded.png">    </p:cNvPr>
          <p:cNvPicPr>
            <a:picLocks noChangeAspect="1"/>
          </p:cNvPicPr>
          <p:nvPr/>
        </p:nvPicPr>
        <p:blipFill>
          <a:blip r:embed="rId4"/>
          <a:stretch>
            <a:fillRect/>
          </a:stretch>
        </p:blipFill>
        <p:spPr>
          <a:xfrm>
            <a:off x="6327648" y="1572768"/>
            <a:ext cx="237744" cy="237744"/>
          </a:xfrm>
          <a:prstGeom prst="rect">
            <a:avLst/>
          </a:prstGeom>
        </p:spPr>
      </p:pic>
      <p:sp>
        <p:nvSpPr>
          <p:cNvPr id="17" name="Text 12"/>
          <p:cNvSpPr txBox="1"/>
          <p:nvPr/>
        </p:nvSpPr>
        <p:spPr>
          <a:xfrm>
            <a:off x="6784848" y="1481328"/>
            <a:ext cx="1737360" cy="420624"/>
          </a:xfrm>
          <a:prstGeom prst="rect">
            <a:avLst/>
          </a:prstGeom>
          <a:noFill/>
          <a:ln/>
        </p:spPr>
        <p:txBody>
          <a:bodyPr wrap="square" lIns="0" tIns="0" rIns="0" bIns="0" rtlCol="0" anchor="ctr"/>
          <a:lstStyle/>
          <a:p>
            <a:pPr indent="0" marL="0">
              <a:buNone/>
            </a:pPr>
            <a:r>
              <a:rPr lang="en-US" sz="1350" b="1" dirty="0">
                <a:solidFill>
                  <a:srgbClr val="17262B"/>
                </a:solidFill>
                <a:latin typeface="Calibri" pitchFamily="34" charset="0"/>
                <a:ea typeface="Calibri" pitchFamily="34" charset="-122"/>
                <a:cs typeface="Calibri" pitchFamily="34" charset="-120"/>
              </a:rPr>
              <a:t>Challenge any finding</a:t>
            </a:r>
            <a:endParaRPr lang="en-US" sz="1350" dirty="0"/>
          </a:p>
        </p:txBody>
      </p:sp>
      <p:sp>
        <p:nvSpPr>
          <p:cNvPr id="18" name="Text 13"/>
          <p:cNvSpPr txBox="1"/>
          <p:nvPr/>
        </p:nvSpPr>
        <p:spPr>
          <a:xfrm>
            <a:off x="6217920" y="2029968"/>
            <a:ext cx="2286000" cy="731520"/>
          </a:xfrm>
          <a:prstGeom prst="rect">
            <a:avLst/>
          </a:prstGeom>
          <a:noFill/>
          <a:ln/>
        </p:spPr>
        <p:txBody>
          <a:bodyPr wrap="square" lIns="0" tIns="0" rIns="0" bIns="0" rtlCol="0" anchor="t"/>
          <a:lstStyle/>
          <a:p>
            <a:pPr indent="0" marL="0">
              <a:buNone/>
            </a:pPr>
            <a:r>
              <a:rPr lang="en-US" sz="1200" dirty="0">
                <a:solidFill>
                  <a:srgbClr val="5E7075"/>
                </a:solidFill>
                <a:latin typeface="Calibri" pitchFamily="34" charset="0"/>
                <a:ea typeface="Calibri" pitchFamily="34" charset="-122"/>
                <a:cs typeface="Calibri" pitchFamily="34" charset="-120"/>
              </a:rPr>
              <a:t>Reject with a reason and the score recalculates; every version is kept.</a:t>
            </a:r>
            <a:endParaRPr lang="en-US" sz="1200" dirty="0"/>
          </a:p>
        </p:txBody>
      </p:sp>
      <p:sp>
        <p:nvSpPr>
          <p:cNvPr id="19" name="Shape 14"/>
          <p:cNvSpPr/>
          <p:nvPr/>
        </p:nvSpPr>
        <p:spPr>
          <a:xfrm>
            <a:off x="457200" y="3017520"/>
            <a:ext cx="2606040" cy="1554480"/>
          </a:xfrm>
          <a:prstGeom prst="roundRect">
            <a:avLst>
              <a:gd name="adj" fmla="val 7059"/>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20" name="Shape 15"/>
          <p:cNvSpPr/>
          <p:nvPr/>
        </p:nvSpPr>
        <p:spPr>
          <a:xfrm>
            <a:off x="640080" y="3200400"/>
            <a:ext cx="457200" cy="457200"/>
          </a:xfrm>
          <a:prstGeom prst="ellipse">
            <a:avLst/>
          </a:prstGeom>
          <a:solidFill>
            <a:srgbClr val="B7791F"/>
          </a:solidFill>
          <a:ln w="12700">
            <a:solidFill>
              <a:srgbClr val="B7791F"/>
            </a:solidFill>
            <a:prstDash val="solid"/>
          </a:ln>
        </p:spPr>
      </p:sp>
      <p:pic>
        <p:nvPicPr>
          <p:cNvPr id="21" name="Image 3" descr="preencoded.png">    </p:cNvPr>
          <p:cNvPicPr>
            <a:picLocks noChangeAspect="1"/>
          </p:cNvPicPr>
          <p:nvPr/>
        </p:nvPicPr>
        <p:blipFill>
          <a:blip r:embed="rId5"/>
          <a:stretch>
            <a:fillRect/>
          </a:stretch>
        </p:blipFill>
        <p:spPr>
          <a:xfrm>
            <a:off x="749808" y="3310128"/>
            <a:ext cx="237744" cy="237744"/>
          </a:xfrm>
          <a:prstGeom prst="rect">
            <a:avLst/>
          </a:prstGeom>
        </p:spPr>
      </p:pic>
      <p:sp>
        <p:nvSpPr>
          <p:cNvPr id="22" name="Text 16"/>
          <p:cNvSpPr txBox="1"/>
          <p:nvPr/>
        </p:nvSpPr>
        <p:spPr>
          <a:xfrm>
            <a:off x="1207008" y="3218688"/>
            <a:ext cx="1737360" cy="420624"/>
          </a:xfrm>
          <a:prstGeom prst="rect">
            <a:avLst/>
          </a:prstGeom>
          <a:noFill/>
          <a:ln/>
        </p:spPr>
        <p:txBody>
          <a:bodyPr wrap="square" lIns="0" tIns="0" rIns="0" bIns="0" rtlCol="0" anchor="ctr"/>
          <a:lstStyle/>
          <a:p>
            <a:pPr indent="0" marL="0">
              <a:buNone/>
            </a:pPr>
            <a:r>
              <a:rPr lang="en-US" sz="1350" b="1" dirty="0">
                <a:solidFill>
                  <a:srgbClr val="17262B"/>
                </a:solidFill>
                <a:latin typeface="Calibri" pitchFamily="34" charset="0"/>
                <a:ea typeface="Calibri" pitchFamily="34" charset="-122"/>
                <a:cs typeface="Calibri" pitchFamily="34" charset="-120"/>
              </a:rPr>
              <a:t>Honest uncertainty</a:t>
            </a:r>
            <a:endParaRPr lang="en-US" sz="1350" dirty="0"/>
          </a:p>
        </p:txBody>
      </p:sp>
      <p:sp>
        <p:nvSpPr>
          <p:cNvPr id="23" name="Text 17"/>
          <p:cNvSpPr txBox="1"/>
          <p:nvPr/>
        </p:nvSpPr>
        <p:spPr>
          <a:xfrm>
            <a:off x="640080" y="3767328"/>
            <a:ext cx="2286000" cy="731520"/>
          </a:xfrm>
          <a:prstGeom prst="rect">
            <a:avLst/>
          </a:prstGeom>
          <a:noFill/>
          <a:ln/>
        </p:spPr>
        <p:txBody>
          <a:bodyPr wrap="square" lIns="0" tIns="0" rIns="0" bIns="0" rtlCol="0" anchor="t"/>
          <a:lstStyle/>
          <a:p>
            <a:pPr indent="0" marL="0">
              <a:buNone/>
            </a:pPr>
            <a:r>
              <a:rPr lang="en-US" sz="1200" dirty="0">
                <a:solidFill>
                  <a:srgbClr val="5E7075"/>
                </a:solidFill>
                <a:latin typeface="Calibri" pitchFamily="34" charset="0"/>
                <a:ea typeface="Calibri" pitchFamily="34" charset="-122"/>
                <a:cs typeface="Calibri" pitchFamily="34" charset="-120"/>
              </a:rPr>
              <a:t>Confidence is separate from priority, and the AI says when data is missing.</a:t>
            </a:r>
            <a:endParaRPr lang="en-US" sz="1200" dirty="0"/>
          </a:p>
        </p:txBody>
      </p:sp>
      <p:sp>
        <p:nvSpPr>
          <p:cNvPr id="24" name="Shape 18"/>
          <p:cNvSpPr/>
          <p:nvPr/>
        </p:nvSpPr>
        <p:spPr>
          <a:xfrm>
            <a:off x="3246120" y="3017520"/>
            <a:ext cx="2606040" cy="1554480"/>
          </a:xfrm>
          <a:prstGeom prst="roundRect">
            <a:avLst>
              <a:gd name="adj" fmla="val 7059"/>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25" name="Shape 19"/>
          <p:cNvSpPr/>
          <p:nvPr/>
        </p:nvSpPr>
        <p:spPr>
          <a:xfrm>
            <a:off x="3429000" y="3200400"/>
            <a:ext cx="457200" cy="457200"/>
          </a:xfrm>
          <a:prstGeom prst="ellipse">
            <a:avLst/>
          </a:prstGeom>
          <a:solidFill>
            <a:srgbClr val="3F7D4E"/>
          </a:solidFill>
          <a:ln w="12700">
            <a:solidFill>
              <a:srgbClr val="3F7D4E"/>
            </a:solidFill>
            <a:prstDash val="solid"/>
          </a:ln>
        </p:spPr>
      </p:sp>
      <p:pic>
        <p:nvPicPr>
          <p:cNvPr id="26" name="Image 4" descr="preencoded.png">    </p:cNvPr>
          <p:cNvPicPr>
            <a:picLocks noChangeAspect="1"/>
          </p:cNvPicPr>
          <p:nvPr/>
        </p:nvPicPr>
        <p:blipFill>
          <a:blip r:embed="rId6"/>
          <a:stretch>
            <a:fillRect/>
          </a:stretch>
        </p:blipFill>
        <p:spPr>
          <a:xfrm>
            <a:off x="3538728" y="3310128"/>
            <a:ext cx="237744" cy="237744"/>
          </a:xfrm>
          <a:prstGeom prst="rect">
            <a:avLst/>
          </a:prstGeom>
        </p:spPr>
      </p:pic>
      <p:sp>
        <p:nvSpPr>
          <p:cNvPr id="27" name="Text 20"/>
          <p:cNvSpPr txBox="1"/>
          <p:nvPr/>
        </p:nvSpPr>
        <p:spPr>
          <a:xfrm>
            <a:off x="3995928" y="3218688"/>
            <a:ext cx="1737360" cy="420624"/>
          </a:xfrm>
          <a:prstGeom prst="rect">
            <a:avLst/>
          </a:prstGeom>
          <a:noFill/>
          <a:ln/>
        </p:spPr>
        <p:txBody>
          <a:bodyPr wrap="square" lIns="0" tIns="0" rIns="0" bIns="0" rtlCol="0" anchor="ctr"/>
          <a:lstStyle/>
          <a:p>
            <a:pPr indent="0" marL="0">
              <a:buNone/>
            </a:pPr>
            <a:r>
              <a:rPr lang="en-US" sz="1350" b="1" dirty="0">
                <a:solidFill>
                  <a:srgbClr val="17262B"/>
                </a:solidFill>
                <a:latin typeface="Calibri" pitchFamily="34" charset="0"/>
                <a:ea typeface="Calibri" pitchFamily="34" charset="-122"/>
                <a:cs typeface="Calibri" pitchFamily="34" charset="-120"/>
              </a:rPr>
              <a:t>Full audit trail</a:t>
            </a:r>
            <a:endParaRPr lang="en-US" sz="1350" dirty="0"/>
          </a:p>
        </p:txBody>
      </p:sp>
      <p:sp>
        <p:nvSpPr>
          <p:cNvPr id="28" name="Text 21"/>
          <p:cNvSpPr txBox="1"/>
          <p:nvPr/>
        </p:nvSpPr>
        <p:spPr>
          <a:xfrm>
            <a:off x="3429000" y="3767328"/>
            <a:ext cx="2286000" cy="731520"/>
          </a:xfrm>
          <a:prstGeom prst="rect">
            <a:avLst/>
          </a:prstGeom>
          <a:noFill/>
          <a:ln/>
        </p:spPr>
        <p:txBody>
          <a:bodyPr wrap="square" lIns="0" tIns="0" rIns="0" bIns="0" rtlCol="0" anchor="t"/>
          <a:lstStyle/>
          <a:p>
            <a:pPr indent="0" marL="0">
              <a:buNone/>
            </a:pPr>
            <a:r>
              <a:rPr lang="en-US" sz="1200" dirty="0">
                <a:solidFill>
                  <a:srgbClr val="5E7075"/>
                </a:solidFill>
                <a:latin typeface="Calibri" pitchFamily="34" charset="0"/>
                <a:ea typeface="Calibri" pitchFamily="34" charset="-122"/>
                <a:cs typeface="Calibri" pitchFamily="34" charset="-120"/>
              </a:rPr>
              <a:t>Assessments, decisions, notes, status changes, agent runs and tool calls.</a:t>
            </a:r>
            <a:endParaRPr lang="en-US" sz="1200" dirty="0"/>
          </a:p>
        </p:txBody>
      </p:sp>
      <p:sp>
        <p:nvSpPr>
          <p:cNvPr id="29" name="Shape 22"/>
          <p:cNvSpPr/>
          <p:nvPr/>
        </p:nvSpPr>
        <p:spPr>
          <a:xfrm>
            <a:off x="6035040" y="3017520"/>
            <a:ext cx="2606040" cy="1554480"/>
          </a:xfrm>
          <a:prstGeom prst="roundRect">
            <a:avLst>
              <a:gd name="adj" fmla="val 7059"/>
            </a:avLst>
          </a:prstGeom>
          <a:solidFill>
            <a:srgbClr val="FFFFFF"/>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30" name="Shape 23"/>
          <p:cNvSpPr/>
          <p:nvPr/>
        </p:nvSpPr>
        <p:spPr>
          <a:xfrm>
            <a:off x="6217920" y="3200400"/>
            <a:ext cx="457200" cy="457200"/>
          </a:xfrm>
          <a:prstGeom prst="ellipse">
            <a:avLst/>
          </a:prstGeom>
          <a:solidFill>
            <a:srgbClr val="5B5FA8"/>
          </a:solidFill>
          <a:ln w="12700">
            <a:solidFill>
              <a:srgbClr val="5B5FA8"/>
            </a:solidFill>
            <a:prstDash val="solid"/>
          </a:ln>
        </p:spPr>
      </p:sp>
      <p:pic>
        <p:nvPicPr>
          <p:cNvPr id="31" name="Image 5" descr="preencoded.png">    </p:cNvPr>
          <p:cNvPicPr>
            <a:picLocks noChangeAspect="1"/>
          </p:cNvPicPr>
          <p:nvPr/>
        </p:nvPicPr>
        <p:blipFill>
          <a:blip r:embed="rId7"/>
          <a:stretch>
            <a:fillRect/>
          </a:stretch>
        </p:blipFill>
        <p:spPr>
          <a:xfrm>
            <a:off x="6327648" y="3310128"/>
            <a:ext cx="237744" cy="237744"/>
          </a:xfrm>
          <a:prstGeom prst="rect">
            <a:avLst/>
          </a:prstGeom>
        </p:spPr>
      </p:pic>
      <p:sp>
        <p:nvSpPr>
          <p:cNvPr id="32" name="Text 24"/>
          <p:cNvSpPr txBox="1"/>
          <p:nvPr/>
        </p:nvSpPr>
        <p:spPr>
          <a:xfrm>
            <a:off x="6784848" y="3218688"/>
            <a:ext cx="1737360" cy="420624"/>
          </a:xfrm>
          <a:prstGeom prst="rect">
            <a:avLst/>
          </a:prstGeom>
          <a:noFill/>
          <a:ln/>
        </p:spPr>
        <p:txBody>
          <a:bodyPr wrap="square" lIns="0" tIns="0" rIns="0" bIns="0" rtlCol="0" anchor="ctr"/>
          <a:lstStyle/>
          <a:p>
            <a:pPr indent="0" marL="0">
              <a:buNone/>
            </a:pPr>
            <a:r>
              <a:rPr lang="en-US" sz="1350" b="1" dirty="0">
                <a:solidFill>
                  <a:srgbClr val="17262B"/>
                </a:solidFill>
                <a:latin typeface="Calibri" pitchFamily="34" charset="0"/>
                <a:ea typeface="Calibri" pitchFamily="34" charset="-122"/>
                <a:cs typeface="Calibri" pitchFamily="34" charset="-120"/>
              </a:rPr>
              <a:t>Measured, not assumed</a:t>
            </a:r>
            <a:endParaRPr lang="en-US" sz="1350" dirty="0"/>
          </a:p>
        </p:txBody>
      </p:sp>
      <p:sp>
        <p:nvSpPr>
          <p:cNvPr id="33" name="Text 25"/>
          <p:cNvSpPr txBox="1"/>
          <p:nvPr/>
        </p:nvSpPr>
        <p:spPr>
          <a:xfrm>
            <a:off x="6217920" y="3767328"/>
            <a:ext cx="2286000" cy="731520"/>
          </a:xfrm>
          <a:prstGeom prst="rect">
            <a:avLst/>
          </a:prstGeom>
          <a:noFill/>
          <a:ln/>
        </p:spPr>
        <p:txBody>
          <a:bodyPr wrap="square" lIns="0" tIns="0" rIns="0" bIns="0" rtlCol="0" anchor="t"/>
          <a:lstStyle/>
          <a:p>
            <a:pPr indent="0" marL="0">
              <a:buNone/>
            </a:pPr>
            <a:r>
              <a:rPr lang="en-US" sz="1200" dirty="0">
                <a:solidFill>
                  <a:srgbClr val="5E7075"/>
                </a:solidFill>
                <a:latin typeface="Calibri" pitchFamily="34" charset="0"/>
                <a:ea typeface="Calibri" pitchFamily="34" charset="-122"/>
                <a:cs typeface="Calibri" pitchFamily="34" charset="-120"/>
              </a:rPr>
              <a:t>140-check evaluation suite; no accuracy claimed without outcome labels.</a:t>
            </a:r>
            <a:endParaRPr lang="en-US" sz="1200" dirty="0"/>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262B"/>
                </a:solidFill>
                <a:latin typeface="Calibri" pitchFamily="34" charset="0"/>
                <a:ea typeface="Calibri" pitchFamily="34" charset="-122"/>
                <a:cs typeface="Calibri" pitchFamily="34" charset="-120"/>
              </a:rPr>
              <a:t>Trade-offs and the road to production</a:t>
            </a:r>
            <a:endParaRPr lang="en-US" sz="2800" dirty="0"/>
          </a:p>
        </p:txBody>
      </p:sp>
      <p:sp>
        <p:nvSpPr>
          <p:cNvPr id="3" name="Text 1"/>
          <p:cNvSpPr txBox="1"/>
          <p:nvPr/>
        </p:nvSpPr>
        <p:spPr>
          <a:xfrm>
            <a:off x="457200" y="822960"/>
            <a:ext cx="8229600" cy="292608"/>
          </a:xfrm>
          <a:prstGeom prst="rect">
            <a:avLst/>
          </a:prstGeom>
          <a:noFill/>
          <a:ln/>
        </p:spPr>
        <p:txBody>
          <a:bodyPr wrap="square" lIns="0" tIns="0" rIns="0" bIns="0" rtlCol="0" anchor="ctr"/>
          <a:lstStyle/>
          <a:p>
            <a:pPr indent="0" marL="0">
              <a:buNone/>
            </a:pPr>
            <a:r>
              <a:rPr lang="en-US" sz="1300" dirty="0">
                <a:solidFill>
                  <a:srgbClr val="5E7075"/>
                </a:solidFill>
                <a:latin typeface="Calibri" pitchFamily="34" charset="0"/>
                <a:ea typeface="Calibri" pitchFamily="34" charset="-122"/>
                <a:cs typeface="Calibri" pitchFamily="34" charset="-120"/>
              </a:rPr>
              <a:t>What was chosen for the prototype, and what changes for production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806440" cy="914400"/>
        </p:xfrm>
        <a:graphic>
          <a:graphicData uri="http://schemas.openxmlformats.org/drawingml/2006/table">
            <a:tbl>
              <a:tblPr/>
              <a:tblGrid>
                <a:gridCol w="960120"/>
                <a:gridCol w="2240280"/>
                <a:gridCol w="2606040"/>
              </a:tblGrid>
              <a:tr h="42976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Area</a:t>
                      </a:r>
                      <a:endParaRPr lang="en-US" sz="11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Prototype choice</a:t>
                      </a:r>
                      <a:endParaRPr lang="en-US" sz="11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Production direction</a:t>
                      </a:r>
                      <a:endParaRPr lang="en-US" sz="11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2F5D62"/>
                    </a:solidFill>
                  </a:tcPr>
                </a:tc>
              </a:tr>
              <a:tr h="42976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Interface</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Streamlit: fastest path to a working slice</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FastAPI service; Streamlit for internal use or a React front end</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SQLite, schema designed for PostgreSQL</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PostgreSQL, keyset paging, direct feed from the fraud engine</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r>
              <a:tr h="42976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Security</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Authentication out of scope, per the brief</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SSO, role-based access, secrets manager, PII masking before any LLM call</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Models</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Transparent rules; no supervised model without labels</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Train on investigator outcomes; a model must beat the rules before use</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3F7F6"/>
                    </a:solidFill>
                  </a:tcPr>
                </a:tc>
              </a:tr>
              <a:tr h="429768">
                <a:tc>
                  <a:txBody>
                    <a:bodyPr/>
                    <a:lstStyle/>
                    <a:p>
                      <a:pPr indent="0" marL="0">
                        <a:buNone/>
                      </a:pPr>
                      <a:r>
                        <a:rPr lang="en-US" sz="1050" b="1" dirty="0">
                          <a:solidFill>
                            <a:srgbClr val="2F5D62"/>
                          </a:solidFill>
                          <a:latin typeface="Calibri" pitchFamily="34" charset="0"/>
                          <a:ea typeface="Calibri" pitchFamily="34" charset="-122"/>
                          <a:cs typeface="Calibri" pitchFamily="34" charset="-120"/>
                        </a:rPr>
                        <a:t>LLM</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Any provider; grounding checks; deterministic fallback</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c>
                  <a:txBody>
                    <a:bodyPr/>
                    <a:lstStyle/>
                    <a:p>
                      <a:pPr indent="0" marL="0">
                        <a:buNone/>
                      </a:pPr>
                      <a:r>
                        <a:rPr lang="en-US" sz="1050" dirty="0">
                          <a:solidFill>
                            <a:srgbClr val="17262B"/>
                          </a:solidFill>
                          <a:latin typeface="Calibri" pitchFamily="34" charset="0"/>
                          <a:ea typeface="Calibri" pitchFamily="34" charset="-122"/>
                          <a:cs typeface="Calibri" pitchFamily="34" charset="-120"/>
                        </a:rPr>
                        <a:t>LLM gateway, zero-retention terms, cost limits, monitoring</a:t>
                      </a:r>
                      <a:endParaRPr lang="en-US" sz="1050" dirty="0">
                        <a:latin typeface="Calibri" charset="0"/>
                        <a:ea typeface="Calibri" charset="0"/>
                        <a:cs typeface="Calibri" charset="0"/>
                      </a:endParaRPr>
                    </a:p>
                  </a:txBody>
                  <a:tcPr marL="76200" marR="76200" marT="38100" marB="38100" anchor="ctr">
                    <a:lnL w="6350" cap="flat" cmpd="sng" algn="ctr">
                      <a:solidFill>
                        <a:srgbClr val="D9E2E0"/>
                      </a:solidFill>
                      <a:prstDash val="solid"/>
                      <a:round/>
                      <a:headEnd type="none" w="med" len="med"/>
                      <a:tailEnd type="none" w="med" len="med"/>
                    </a:lnL>
                    <a:lnR w="6350" cap="flat" cmpd="sng" algn="ctr">
                      <a:solidFill>
                        <a:srgbClr val="D9E2E0"/>
                      </a:solidFill>
                      <a:prstDash val="solid"/>
                      <a:round/>
                      <a:headEnd type="none" w="med" len="med"/>
                      <a:tailEnd type="none" w="med" len="med"/>
                    </a:lnR>
                    <a:lnT w="6350" cap="flat" cmpd="sng" algn="ctr">
                      <a:solidFill>
                        <a:srgbClr val="D9E2E0"/>
                      </a:solidFill>
                      <a:prstDash val="solid"/>
                      <a:round/>
                      <a:headEnd type="none" w="med" len="med"/>
                      <a:tailEnd type="none" w="med" len="med"/>
                    </a:lnT>
                    <a:lnB w="6350" cap="flat" cmpd="sng" algn="ctr">
                      <a:solidFill>
                        <a:srgbClr val="D9E2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005072"/>
            <a:ext cx="5806440" cy="731520"/>
          </a:xfrm>
          <a:prstGeom prst="rect">
            <a:avLst/>
          </a:prstGeom>
          <a:noFill/>
          <a:ln/>
        </p:spPr>
        <p:txBody>
          <a:bodyPr wrap="square" lIns="0" tIns="0" rIns="0" bIns="0" rtlCol="0" anchor="t"/>
          <a:lstStyle/>
          <a:p>
            <a:pPr indent="0" marL="0">
              <a:spcAft>
                <a:spcPts val="300"/>
              </a:spcAft>
              <a:buNone/>
            </a:pPr>
            <a:r>
              <a:rPr lang="en-US" sz="1050" b="1" dirty="0">
                <a:solidFill>
                  <a:srgbClr val="E07A5F"/>
                </a:solidFill>
                <a:latin typeface="Calibri" pitchFamily="34" charset="0"/>
                <a:ea typeface="Calibri" pitchFamily="34" charset="-122"/>
                <a:cs typeface="Calibri" pitchFamily="34" charset="-120"/>
              </a:rPr>
              <a:t>Left out on purpose: </a:t>
            </a:r>
            <a:pPr indent="0" marL="0">
              <a:spcAft>
                <a:spcPts val="300"/>
              </a:spcAft>
              <a:buNone/>
            </a:pPr>
            <a:r>
              <a:rPr lang="en-US" sz="1050" dirty="0">
                <a:solidFill>
                  <a:srgbClr val="17262B"/>
                </a:solidFill>
                <a:latin typeface="Calibri" pitchFamily="34" charset="0"/>
                <a:ea typeface="Calibri" pitchFamily="34" charset="-122"/>
                <a:cs typeface="Calibri" pitchFamily="34" charset="-120"/>
              </a:rPr>
              <a:t>authentication and multi-tenancy (per the brief), claims-system integration, any supervised model (no labels).</a:t>
            </a:r>
            <a:endParaRPr lang="en-US" sz="1050" dirty="0"/>
          </a:p>
          <a:p>
            <a:pPr indent="0" marL="0">
              <a:spcAft>
                <a:spcPts val="300"/>
              </a:spcAft>
              <a:buNone/>
            </a:pPr>
            <a:r>
              <a:rPr lang="en-US" sz="1050" b="1" dirty="0">
                <a:solidFill>
                  <a:srgbClr val="4E5AA8"/>
                </a:solidFill>
                <a:latin typeface="Calibri" pitchFamily="34" charset="0"/>
                <a:ea typeface="Calibri" pitchFamily="34" charset="-122"/>
                <a:cs typeface="Calibri" pitchFamily="34" charset="-120"/>
              </a:rPr>
              <a:t>With more time: </a:t>
            </a:r>
            <a:pPr indent="0" marL="0">
              <a:spcAft>
                <a:spcPts val="300"/>
              </a:spcAft>
              <a:buNone/>
            </a:pPr>
            <a:r>
              <a:rPr lang="en-US" sz="1050" dirty="0">
                <a:solidFill>
                  <a:srgbClr val="17262B"/>
                </a:solidFill>
                <a:latin typeface="Calibri" pitchFamily="34" charset="0"/>
                <a:ea typeface="Calibri" pitchFamily="34" charset="-122"/>
                <a:cs typeface="Calibri" pitchFamily="34" charset="-120"/>
              </a:rPr>
              <a:t>calibrate on real outcomes, retrieval over past decisions, a rule builder with approval, network analysis.</a:t>
            </a:r>
            <a:endParaRPr lang="en-US" sz="1050" dirty="0"/>
          </a:p>
        </p:txBody>
      </p:sp>
      <p:sp>
        <p:nvSpPr>
          <p:cNvPr id="6" name="Shape 3"/>
          <p:cNvSpPr/>
          <p:nvPr/>
        </p:nvSpPr>
        <p:spPr>
          <a:xfrm>
            <a:off x="6492240" y="1234440"/>
            <a:ext cx="2194560" cy="3447288"/>
          </a:xfrm>
          <a:prstGeom prst="roundRect">
            <a:avLst>
              <a:gd name="adj" fmla="val 5000"/>
            </a:avLst>
          </a:prstGeom>
          <a:solidFill>
            <a:srgbClr val="FBEAE4"/>
          </a:solidFill>
          <a:ln w="9525">
            <a:solidFill>
              <a:srgbClr val="D9E2E0"/>
            </a:solidFill>
            <a:prstDash val="solid"/>
          </a:ln>
          <a:effectLst>
            <a:outerShdw sx="100000" sy="100000" kx="0" ky="0" algn="bl" rotWithShape="0" blurRad="76200" dist="19050" dir="5400000">
              <a:srgbClr val="000000">
                <a:alpha val="12000"/>
              </a:srgbClr>
            </a:outerShdw>
          </a:effectLst>
        </p:spPr>
      </p:sp>
      <p:sp>
        <p:nvSpPr>
          <p:cNvPr id="7" name="Shape 4"/>
          <p:cNvSpPr/>
          <p:nvPr/>
        </p:nvSpPr>
        <p:spPr>
          <a:xfrm>
            <a:off x="6675120" y="1389888"/>
            <a:ext cx="420624" cy="420624"/>
          </a:xfrm>
          <a:prstGeom prst="ellipse">
            <a:avLst/>
          </a:prstGeom>
          <a:solidFill>
            <a:srgbClr val="E07A5F"/>
          </a:solidFill>
          <a:ln w="12700">
            <a:solidFill>
              <a:srgbClr val="E07A5F"/>
            </a:solidFill>
            <a:prstDash val="solid"/>
          </a:ln>
        </p:spPr>
      </p:sp>
      <p:pic>
        <p:nvPicPr>
          <p:cNvPr id="8" name="Image 0" descr="preencoded.png">    </p:cNvPr>
          <p:cNvPicPr>
            <a:picLocks noChangeAspect="1"/>
          </p:cNvPicPr>
          <p:nvPr/>
        </p:nvPicPr>
        <p:blipFill>
          <a:blip r:embed="rId2"/>
          <a:stretch>
            <a:fillRect/>
          </a:stretch>
        </p:blipFill>
        <p:spPr>
          <a:xfrm>
            <a:off x="6776070" y="1490838"/>
            <a:ext cx="218724" cy="218724"/>
          </a:xfrm>
          <a:prstGeom prst="rect">
            <a:avLst/>
          </a:prstGeom>
        </p:spPr>
      </p:pic>
      <p:sp>
        <p:nvSpPr>
          <p:cNvPr id="9" name="Text 5"/>
          <p:cNvSpPr txBox="1"/>
          <p:nvPr/>
        </p:nvSpPr>
        <p:spPr>
          <a:xfrm>
            <a:off x="7178040" y="1417320"/>
            <a:ext cx="1417320" cy="365760"/>
          </a:xfrm>
          <a:prstGeom prst="rect">
            <a:avLst/>
          </a:prstGeom>
          <a:noFill/>
          <a:ln/>
        </p:spPr>
        <p:txBody>
          <a:bodyPr wrap="square" lIns="0" tIns="0" rIns="0" bIns="0" rtlCol="0" anchor="ctr"/>
          <a:lstStyle/>
          <a:p>
            <a:pPr indent="0" marL="0">
              <a:buNone/>
            </a:pPr>
            <a:r>
              <a:rPr lang="en-US" sz="1500" b="1" dirty="0">
                <a:solidFill>
                  <a:srgbClr val="E07A5F"/>
                </a:solidFill>
                <a:latin typeface="Calibri" pitchFamily="34" charset="0"/>
                <a:ea typeface="Calibri" pitchFamily="34" charset="-122"/>
                <a:cs typeface="Calibri" pitchFamily="34" charset="-120"/>
              </a:rPr>
              <a:t>Key risks</a:t>
            </a:r>
            <a:endParaRPr lang="en-US" sz="1500" dirty="0"/>
          </a:p>
        </p:txBody>
      </p:sp>
      <p:sp>
        <p:nvSpPr>
          <p:cNvPr id="10" name="Text 6"/>
          <p:cNvSpPr txBox="1"/>
          <p:nvPr/>
        </p:nvSpPr>
        <p:spPr>
          <a:xfrm>
            <a:off x="6675120" y="1920240"/>
            <a:ext cx="1874520" cy="2697480"/>
          </a:xfrm>
          <a:prstGeom prst="rect">
            <a:avLst/>
          </a:prstGeom>
          <a:noFill/>
          <a:ln/>
        </p:spPr>
        <p:txBody>
          <a:bodyPr wrap="square" lIns="0" tIns="0" rIns="0" bIns="0" rtlCol="0" anchor="t"/>
          <a:lstStyle/>
          <a:p>
            <a:pPr indent="0" marL="0">
              <a:spcAft>
                <a:spcPts val="500"/>
              </a:spcAft>
              <a:buNone/>
            </a:pPr>
            <a:r>
              <a:rPr lang="en-US" sz="1050" b="1" dirty="0">
                <a:solidFill>
                  <a:srgbClr val="17262B"/>
                </a:solidFill>
                <a:latin typeface="Calibri" pitchFamily="34" charset="0"/>
                <a:ea typeface="Calibri" pitchFamily="34" charset="-122"/>
                <a:cs typeface="Calibri" pitchFamily="34" charset="-120"/>
              </a:rPr>
              <a:t>Accuracy: </a:t>
            </a:r>
            <a:pPr indent="0" marL="0">
              <a:spcAft>
                <a:spcPts val="500"/>
              </a:spcAft>
              <a:buNone/>
            </a:pPr>
            <a:r>
              <a:rPr lang="en-US" sz="1050" dirty="0">
                <a:solidFill>
                  <a:srgbClr val="17262B"/>
                </a:solidFill>
                <a:latin typeface="Calibri" pitchFamily="34" charset="0"/>
                <a:ea typeface="Calibri" pitchFamily="34" charset="-122"/>
                <a:cs typeface="Calibri" pitchFamily="34" charset="-120"/>
              </a:rPr>
              <a:t>no labels yet; weights are expert-set</a:t>
            </a:r>
            <a:endParaRPr lang="en-US" sz="1050" dirty="0"/>
          </a:p>
          <a:p>
            <a:pPr indent="0" marL="0">
              <a:spcAft>
                <a:spcPts val="500"/>
              </a:spcAft>
              <a:buNone/>
            </a:pPr>
            <a:r>
              <a:rPr lang="en-US" sz="1050" b="1" dirty="0">
                <a:solidFill>
                  <a:srgbClr val="17262B"/>
                </a:solidFill>
                <a:latin typeface="Calibri" pitchFamily="34" charset="0"/>
                <a:ea typeface="Calibri" pitchFamily="34" charset="-122"/>
                <a:cs typeface="Calibri" pitchFamily="34" charset="-120"/>
              </a:rPr>
              <a:t>Trust: </a:t>
            </a:r>
            <a:pPr indent="0" marL="0">
              <a:spcAft>
                <a:spcPts val="500"/>
              </a:spcAft>
              <a:buNone/>
            </a:pPr>
            <a:r>
              <a:rPr lang="en-US" sz="1050" dirty="0">
                <a:solidFill>
                  <a:srgbClr val="17262B"/>
                </a:solidFill>
                <a:latin typeface="Calibri" pitchFamily="34" charset="0"/>
                <a:ea typeface="Calibri" pitchFamily="34" charset="-122"/>
                <a:cs typeface="Calibri" pitchFamily="34" charset="-120"/>
              </a:rPr>
              <a:t>wrong confident answers; mitigated by grounding</a:t>
            </a:r>
            <a:endParaRPr lang="en-US" sz="1050" dirty="0"/>
          </a:p>
          <a:p>
            <a:pPr indent="0" marL="0">
              <a:spcAft>
                <a:spcPts val="500"/>
              </a:spcAft>
              <a:buNone/>
            </a:pPr>
            <a:r>
              <a:rPr lang="en-US" sz="1050" b="1" dirty="0">
                <a:solidFill>
                  <a:srgbClr val="17262B"/>
                </a:solidFill>
                <a:latin typeface="Calibri" pitchFamily="34" charset="0"/>
                <a:ea typeface="Calibri" pitchFamily="34" charset="-122"/>
                <a:cs typeface="Calibri" pitchFamily="34" charset="-120"/>
              </a:rPr>
              <a:t>Cost &amp; latency: </a:t>
            </a:r>
            <a:pPr indent="0" marL="0">
              <a:spcAft>
                <a:spcPts val="500"/>
              </a:spcAft>
              <a:buNone/>
            </a:pPr>
            <a:r>
              <a:rPr lang="en-US" sz="1050" dirty="0">
                <a:solidFill>
                  <a:srgbClr val="17262B"/>
                </a:solidFill>
                <a:latin typeface="Calibri" pitchFamily="34" charset="0"/>
                <a:ea typeface="Calibri" pitchFamily="34" charset="-122"/>
                <a:cs typeface="Calibri" pitchFamily="34" charset="-120"/>
              </a:rPr>
              <a:t>LLM calls per case; batch overnight</a:t>
            </a:r>
            <a:endParaRPr lang="en-US" sz="1050" dirty="0"/>
          </a:p>
          <a:p>
            <a:pPr indent="0" marL="0">
              <a:spcAft>
                <a:spcPts val="500"/>
              </a:spcAft>
              <a:buNone/>
            </a:pPr>
            <a:r>
              <a:rPr lang="en-US" sz="1050" b="1" dirty="0">
                <a:solidFill>
                  <a:srgbClr val="17262B"/>
                </a:solidFill>
                <a:latin typeface="Calibri" pitchFamily="34" charset="0"/>
                <a:ea typeface="Calibri" pitchFamily="34" charset="-122"/>
                <a:cs typeface="Calibri" pitchFamily="34" charset="-120"/>
              </a:rPr>
              <a:t>Abuse: </a:t>
            </a:r>
            <a:pPr indent="0" marL="0">
              <a:spcAft>
                <a:spcPts val="500"/>
              </a:spcAft>
              <a:buNone/>
            </a:pPr>
            <a:r>
              <a:rPr lang="en-US" sz="1050" dirty="0">
                <a:solidFill>
                  <a:srgbClr val="17262B"/>
                </a:solidFill>
                <a:latin typeface="Calibri" pitchFamily="34" charset="0"/>
                <a:ea typeface="Calibri" pitchFamily="34" charset="-122"/>
                <a:cs typeface="Calibri" pitchFamily="34" charset="-120"/>
              </a:rPr>
              <a:t>prompt injection; tools allowlisted, writes need a click</a:t>
            </a:r>
            <a:endParaRPr lang="en-US" sz="1050" dirty="0"/>
          </a:p>
          <a:p>
            <a:pPr indent="0" marL="0">
              <a:spcAft>
                <a:spcPts val="500"/>
              </a:spcAft>
              <a:buNone/>
            </a:pPr>
            <a:r>
              <a:rPr lang="en-US" sz="1050" b="1" dirty="0">
                <a:solidFill>
                  <a:srgbClr val="17262B"/>
                </a:solidFill>
                <a:latin typeface="Calibri" pitchFamily="34" charset="0"/>
                <a:ea typeface="Calibri" pitchFamily="34" charset="-122"/>
                <a:cs typeface="Calibri" pitchFamily="34" charset="-120"/>
              </a:rPr>
              <a:t>Privacy: </a:t>
            </a:r>
            <a:pPr indent="0" marL="0">
              <a:spcAft>
                <a:spcPts val="500"/>
              </a:spcAft>
              <a:buNone/>
            </a:pPr>
            <a:r>
              <a:rPr lang="en-US" sz="1050" dirty="0">
                <a:solidFill>
                  <a:srgbClr val="17262B"/>
                </a:solidFill>
                <a:latin typeface="Calibri" pitchFamily="34" charset="0"/>
                <a:ea typeface="Calibri" pitchFamily="34" charset="-122"/>
                <a:cs typeface="Calibri" pitchFamily="34" charset="-120"/>
              </a:rPr>
              <a:t>health data; mask before the model</a:t>
            </a:r>
            <a:endParaRPr lang="en-US" sz="1050" dirty="0"/>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731520"/>
            <a:ext cx="804672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The AI prepares. The investigator decides.</a:t>
            </a:r>
            <a:endParaRPr lang="en-US" sz="3400" dirty="0"/>
          </a:p>
        </p:txBody>
      </p:sp>
      <p:sp>
        <p:nvSpPr>
          <p:cNvPr id="3" name="Text 1"/>
          <p:cNvSpPr txBox="1"/>
          <p:nvPr/>
        </p:nvSpPr>
        <p:spPr>
          <a:xfrm>
            <a:off x="548640" y="1737360"/>
            <a:ext cx="8046720" cy="365760"/>
          </a:xfrm>
          <a:prstGeom prst="rect">
            <a:avLst/>
          </a:prstGeom>
          <a:noFill/>
          <a:ln/>
        </p:spPr>
        <p:txBody>
          <a:bodyPr wrap="square" lIns="0" tIns="0" rIns="0" bIns="0" rtlCol="0" anchor="ctr"/>
          <a:lstStyle/>
          <a:p>
            <a:pPr indent="0" marL="0">
              <a:buNone/>
            </a:pPr>
            <a:r>
              <a:rPr lang="en-US" sz="1600" b="1" dirty="0">
                <a:solidFill>
                  <a:srgbClr val="F2B84B"/>
                </a:solidFill>
                <a:latin typeface="Calibri" pitchFamily="34" charset="0"/>
                <a:ea typeface="Calibri" pitchFamily="34" charset="-122"/>
                <a:cs typeface="Calibri" pitchFamily="34" charset="-120"/>
              </a:rPr>
              <a:t>Next steps</a:t>
            </a:r>
            <a:endParaRPr lang="en-US" sz="1600" dirty="0"/>
          </a:p>
        </p:txBody>
      </p:sp>
      <p:sp>
        <p:nvSpPr>
          <p:cNvPr id="4" name="Shape 2"/>
          <p:cNvSpPr/>
          <p:nvPr/>
        </p:nvSpPr>
        <p:spPr>
          <a:xfrm>
            <a:off x="548640" y="2240280"/>
            <a:ext cx="2468880" cy="1508760"/>
          </a:xfrm>
          <a:prstGeom prst="roundRect">
            <a:avLst>
              <a:gd name="adj" fmla="val 7273"/>
            </a:avLst>
          </a:prstGeom>
          <a:solidFill>
            <a:srgbClr val="FFFFFF">
              <a:alpha val="14000"/>
            </a:srgbClr>
          </a:solidFill>
          <a:ln w="9525">
            <a:solidFill>
              <a:srgbClr val="FFFFFF">
                <a:alpha val="40000"/>
              </a:srgbClr>
            </a:solidFill>
            <a:prstDash val="solid"/>
          </a:ln>
        </p:spPr>
      </p:sp>
      <p:sp>
        <p:nvSpPr>
          <p:cNvPr id="5" name="Shape 3"/>
          <p:cNvSpPr/>
          <p:nvPr/>
        </p:nvSpPr>
        <p:spPr>
          <a:xfrm>
            <a:off x="731520" y="2395728"/>
            <a:ext cx="402336" cy="402336"/>
          </a:xfrm>
          <a:prstGeom prst="ellipse">
            <a:avLst/>
          </a:prstGeom>
          <a:solidFill>
            <a:srgbClr val="E07A5F"/>
          </a:solidFill>
          <a:ln w="12700">
            <a:solidFill>
              <a:srgbClr val="FFFFFF">
                <a:alpha val="0"/>
              </a:srgbClr>
            </a:solidFill>
            <a:prstDash val="solid"/>
          </a:ln>
        </p:spPr>
      </p:sp>
      <p:sp>
        <p:nvSpPr>
          <p:cNvPr id="6" name="Text 4"/>
          <p:cNvSpPr txBox="1"/>
          <p:nvPr/>
        </p:nvSpPr>
        <p:spPr>
          <a:xfrm>
            <a:off x="731520" y="2395728"/>
            <a:ext cx="402336" cy="402336"/>
          </a:xfrm>
          <a:prstGeom prst="rect">
            <a:avLst/>
          </a:prstGeom>
          <a:noFill/>
          <a:ln/>
        </p:spPr>
        <p:txBody>
          <a:bodyPr wrap="square" lIns="0" tIns="0" rIns="0" bIns="0" rtlCol="0" anchor="ctr"/>
          <a:lstStyle/>
          <a:p>
            <a:pPr algn="ctr" indent="0" marL="0">
              <a:buNone/>
            </a:pPr>
            <a:r>
              <a:rPr lang="en-US" sz="1500" b="1" dirty="0">
                <a:solidFill>
                  <a:srgbClr val="173F4A"/>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261872" y="2395728"/>
            <a:ext cx="1691640" cy="40233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Collect real outcomes</a:t>
            </a:r>
            <a:endParaRPr lang="en-US" sz="1350" dirty="0"/>
          </a:p>
        </p:txBody>
      </p:sp>
      <p:sp>
        <p:nvSpPr>
          <p:cNvPr id="8" name="Text 6"/>
          <p:cNvSpPr txBox="1"/>
          <p:nvPr/>
        </p:nvSpPr>
        <p:spPr>
          <a:xfrm>
            <a:off x="731520" y="2926080"/>
            <a:ext cx="2148840" cy="731520"/>
          </a:xfrm>
          <a:prstGeom prst="rect">
            <a:avLst/>
          </a:prstGeom>
          <a:noFill/>
          <a:ln/>
        </p:spPr>
        <p:txBody>
          <a:bodyPr wrap="square" lIns="0" tIns="0" rIns="0" bIns="0" rtlCol="0" anchor="t"/>
          <a:lstStyle/>
          <a:p>
            <a:pPr indent="0" marL="0">
              <a:buNone/>
            </a:pPr>
            <a:r>
              <a:rPr lang="en-US" sz="1150" dirty="0">
                <a:solidFill>
                  <a:srgbClr val="E6EEF0"/>
                </a:solidFill>
                <a:latin typeface="Calibri" pitchFamily="34" charset="0"/>
                <a:ea typeface="Calibri" pitchFamily="34" charset="-122"/>
                <a:cs typeface="Calibri" pitchFamily="34" charset="-120"/>
              </a:rPr>
              <a:t>Every final decision is stored as a label from day one.</a:t>
            </a:r>
            <a:endParaRPr lang="en-US" sz="1150" dirty="0"/>
          </a:p>
        </p:txBody>
      </p:sp>
      <p:sp>
        <p:nvSpPr>
          <p:cNvPr id="9" name="Shape 7"/>
          <p:cNvSpPr/>
          <p:nvPr/>
        </p:nvSpPr>
        <p:spPr>
          <a:xfrm>
            <a:off x="3246120" y="2240280"/>
            <a:ext cx="2468880" cy="1508760"/>
          </a:xfrm>
          <a:prstGeom prst="roundRect">
            <a:avLst>
              <a:gd name="adj" fmla="val 7273"/>
            </a:avLst>
          </a:prstGeom>
          <a:solidFill>
            <a:srgbClr val="FFFFFF">
              <a:alpha val="14000"/>
            </a:srgbClr>
          </a:solidFill>
          <a:ln w="9525">
            <a:solidFill>
              <a:srgbClr val="FFFFFF">
                <a:alpha val="40000"/>
              </a:srgbClr>
            </a:solidFill>
            <a:prstDash val="solid"/>
          </a:ln>
        </p:spPr>
      </p:sp>
      <p:sp>
        <p:nvSpPr>
          <p:cNvPr id="10" name="Shape 8"/>
          <p:cNvSpPr/>
          <p:nvPr/>
        </p:nvSpPr>
        <p:spPr>
          <a:xfrm>
            <a:off x="3429000" y="2395728"/>
            <a:ext cx="402336" cy="402336"/>
          </a:xfrm>
          <a:prstGeom prst="ellipse">
            <a:avLst/>
          </a:prstGeom>
          <a:solidFill>
            <a:srgbClr val="F2B84B"/>
          </a:solidFill>
          <a:ln w="12700">
            <a:solidFill>
              <a:srgbClr val="FFFFFF">
                <a:alpha val="0"/>
              </a:srgbClr>
            </a:solidFill>
            <a:prstDash val="solid"/>
          </a:ln>
        </p:spPr>
      </p:sp>
      <p:sp>
        <p:nvSpPr>
          <p:cNvPr id="11" name="Text 9"/>
          <p:cNvSpPr txBox="1"/>
          <p:nvPr/>
        </p:nvSpPr>
        <p:spPr>
          <a:xfrm>
            <a:off x="3429000" y="2395728"/>
            <a:ext cx="402336" cy="402336"/>
          </a:xfrm>
          <a:prstGeom prst="rect">
            <a:avLst/>
          </a:prstGeom>
          <a:noFill/>
          <a:ln/>
        </p:spPr>
        <p:txBody>
          <a:bodyPr wrap="square" lIns="0" tIns="0" rIns="0" bIns="0" rtlCol="0" anchor="ctr"/>
          <a:lstStyle/>
          <a:p>
            <a:pPr algn="ctr" indent="0" marL="0">
              <a:buNone/>
            </a:pPr>
            <a:r>
              <a:rPr lang="en-US" sz="1500" b="1" dirty="0">
                <a:solidFill>
                  <a:srgbClr val="173F4A"/>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3959352" y="2395728"/>
            <a:ext cx="1691640" cy="40233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Harden for production</a:t>
            </a:r>
            <a:endParaRPr lang="en-US" sz="1350" dirty="0"/>
          </a:p>
        </p:txBody>
      </p:sp>
      <p:sp>
        <p:nvSpPr>
          <p:cNvPr id="13" name="Text 11"/>
          <p:cNvSpPr txBox="1"/>
          <p:nvPr/>
        </p:nvSpPr>
        <p:spPr>
          <a:xfrm>
            <a:off x="3429000" y="2926080"/>
            <a:ext cx="2148840" cy="731520"/>
          </a:xfrm>
          <a:prstGeom prst="rect">
            <a:avLst/>
          </a:prstGeom>
          <a:noFill/>
          <a:ln/>
        </p:spPr>
        <p:txBody>
          <a:bodyPr wrap="square" lIns="0" tIns="0" rIns="0" bIns="0" rtlCol="0" anchor="t"/>
          <a:lstStyle/>
          <a:p>
            <a:pPr indent="0" marL="0">
              <a:buNone/>
            </a:pPr>
            <a:r>
              <a:rPr lang="en-US" sz="1150" dirty="0">
                <a:solidFill>
                  <a:srgbClr val="E6EEF0"/>
                </a:solidFill>
                <a:latin typeface="Calibri" pitchFamily="34" charset="0"/>
                <a:ea typeface="Calibri" pitchFamily="34" charset="-122"/>
                <a:cs typeface="Calibri" pitchFamily="34" charset="-120"/>
              </a:rPr>
              <a:t>PostgreSQL, SSO, an LLM gateway with PII masking.</a:t>
            </a:r>
            <a:endParaRPr lang="en-US" sz="1150" dirty="0"/>
          </a:p>
        </p:txBody>
      </p:sp>
      <p:sp>
        <p:nvSpPr>
          <p:cNvPr id="14" name="Shape 12"/>
          <p:cNvSpPr/>
          <p:nvPr/>
        </p:nvSpPr>
        <p:spPr>
          <a:xfrm>
            <a:off x="5943600" y="2240280"/>
            <a:ext cx="2468880" cy="1508760"/>
          </a:xfrm>
          <a:prstGeom prst="roundRect">
            <a:avLst>
              <a:gd name="adj" fmla="val 7273"/>
            </a:avLst>
          </a:prstGeom>
          <a:solidFill>
            <a:srgbClr val="FFFFFF">
              <a:alpha val="14000"/>
            </a:srgbClr>
          </a:solidFill>
          <a:ln w="9525">
            <a:solidFill>
              <a:srgbClr val="FFFFFF">
                <a:alpha val="40000"/>
              </a:srgbClr>
            </a:solidFill>
            <a:prstDash val="solid"/>
          </a:ln>
        </p:spPr>
      </p:sp>
      <p:sp>
        <p:nvSpPr>
          <p:cNvPr id="15" name="Shape 13"/>
          <p:cNvSpPr/>
          <p:nvPr/>
        </p:nvSpPr>
        <p:spPr>
          <a:xfrm>
            <a:off x="6126480" y="2395728"/>
            <a:ext cx="402336" cy="402336"/>
          </a:xfrm>
          <a:prstGeom prst="ellipse">
            <a:avLst/>
          </a:prstGeom>
          <a:solidFill>
            <a:srgbClr val="7FB069"/>
          </a:solidFill>
          <a:ln w="12700">
            <a:solidFill>
              <a:srgbClr val="FFFFFF">
                <a:alpha val="0"/>
              </a:srgbClr>
            </a:solidFill>
            <a:prstDash val="solid"/>
          </a:ln>
        </p:spPr>
      </p:sp>
      <p:sp>
        <p:nvSpPr>
          <p:cNvPr id="16" name="Text 14"/>
          <p:cNvSpPr txBox="1"/>
          <p:nvPr/>
        </p:nvSpPr>
        <p:spPr>
          <a:xfrm>
            <a:off x="6126480" y="2395728"/>
            <a:ext cx="402336" cy="402336"/>
          </a:xfrm>
          <a:prstGeom prst="rect">
            <a:avLst/>
          </a:prstGeom>
          <a:noFill/>
          <a:ln/>
        </p:spPr>
        <p:txBody>
          <a:bodyPr wrap="square" lIns="0" tIns="0" rIns="0" bIns="0" rtlCol="0" anchor="ctr"/>
          <a:lstStyle/>
          <a:p>
            <a:pPr algn="ctr" indent="0" marL="0">
              <a:buNone/>
            </a:pPr>
            <a:r>
              <a:rPr lang="en-US" sz="1500" b="1" dirty="0">
                <a:solidFill>
                  <a:srgbClr val="173F4A"/>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6656832" y="2395728"/>
            <a:ext cx="1691640" cy="40233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Earn automation</a:t>
            </a:r>
            <a:endParaRPr lang="en-US" sz="1350" dirty="0"/>
          </a:p>
        </p:txBody>
      </p:sp>
      <p:sp>
        <p:nvSpPr>
          <p:cNvPr id="18" name="Text 16"/>
          <p:cNvSpPr txBox="1"/>
          <p:nvPr/>
        </p:nvSpPr>
        <p:spPr>
          <a:xfrm>
            <a:off x="6126480" y="2926080"/>
            <a:ext cx="2148840" cy="731520"/>
          </a:xfrm>
          <a:prstGeom prst="rect">
            <a:avLst/>
          </a:prstGeom>
          <a:noFill/>
          <a:ln/>
        </p:spPr>
        <p:txBody>
          <a:bodyPr wrap="square" lIns="0" tIns="0" rIns="0" bIns="0" rtlCol="0" anchor="t"/>
          <a:lstStyle/>
          <a:p>
            <a:pPr indent="0" marL="0">
              <a:buNone/>
            </a:pPr>
            <a:r>
              <a:rPr lang="en-US" sz="1150" dirty="0">
                <a:solidFill>
                  <a:srgbClr val="E6EEF0"/>
                </a:solidFill>
                <a:latin typeface="Calibri" pitchFamily="34" charset="0"/>
                <a:ea typeface="Calibri" pitchFamily="34" charset="-122"/>
                <a:cs typeface="Calibri" pitchFamily="34" charset="-120"/>
              </a:rPr>
              <a:t>A supervised model trained on real outcomes must beat the rules first.</a:t>
            </a:r>
            <a:endParaRPr lang="en-US" sz="1150" dirty="0"/>
          </a:p>
        </p:txBody>
      </p:sp>
      <p:sp>
        <p:nvSpPr>
          <p:cNvPr id="19" name="Text 17"/>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100" dirty="0">
                <a:solidFill>
                  <a:srgbClr val="BFD2D6"/>
                </a:solidFill>
                <a:latin typeface="Calibri" pitchFamily="34" charset="0"/>
                <a:ea typeface="Calibri" pitchFamily="34" charset="-122"/>
                <a:cs typeface="Calibri" pitchFamily="34" charset="-120"/>
              </a:rPr>
              <a:t>Code, README, deployment guide and model comparison: github.com/upendradeshpande/Agentic_AI_Insurance_Fraud_Investigator</a:t>
            </a:r>
            <a:endParaRPr lang="en-US" sz="110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Investigator Tool</dc:title>
  <dc:subject>PptxGenJS Presentation</dc:subject>
  <dc:creator>PptxGenJS</dc:creator>
  <cp:lastModifiedBy>PptxGenJS</cp:lastModifiedBy>
  <cp:revision>1</cp:revision>
  <dcterms:created xsi:type="dcterms:W3CDTF">2026-09-24T04:03:31Z</dcterms:created>
  <dcterms:modified xsi:type="dcterms:W3CDTF">2026-09-24T04:03:31Z</dcterms:modified>
</cp:coreProperties>
</file>